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22718-FA20-4843-AA35-96D8AD7D5E1D}" v="4" dt="2026-09-02T19:30:28.2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nes Reyes" userId="c20a8a02-b4fe-42f6-8098-28f80703c1a5" providerId="ADAL" clId="{CACF7B39-15D8-4AB0-B094-4E7549337A18}"/>
    <pc:docChg chg="modSld">
      <pc:chgData name="Joannes Reyes" userId="c20a8a02-b4fe-42f6-8098-28f80703c1a5" providerId="ADAL" clId="{CACF7B39-15D8-4AB0-B094-4E7549337A18}" dt="2026-09-02T19:30:28.267" v="5"/>
      <pc:docMkLst>
        <pc:docMk/>
      </pc:docMkLst>
      <pc:sldChg chg="modSp">
        <pc:chgData name="Joannes Reyes" userId="c20a8a02-b4fe-42f6-8098-28f80703c1a5" providerId="ADAL" clId="{CACF7B39-15D8-4AB0-B094-4E7549337A18}" dt="2026-09-02T18:28:57.647" v="0"/>
        <pc:sldMkLst>
          <pc:docMk/>
          <pc:sldMk cId="3645520117" sldId="258"/>
        </pc:sldMkLst>
        <pc:spChg chg="mod">
          <ac:chgData name="Joannes Reyes" userId="c20a8a02-b4fe-42f6-8098-28f80703c1a5" providerId="ADAL" clId="{CACF7B39-15D8-4AB0-B094-4E7549337A18}" dt="2026-09-02T18:28:57.647" v="0"/>
          <ac:spMkLst>
            <pc:docMk/>
            <pc:sldMk cId="3645520117" sldId="258"/>
            <ac:spMk id="3" creationId="{19505864-1839-432F-5A6F-48E63F560997}"/>
          </ac:spMkLst>
        </pc:spChg>
      </pc:sldChg>
      <pc:sldChg chg="modSp">
        <pc:chgData name="Joannes Reyes" userId="c20a8a02-b4fe-42f6-8098-28f80703c1a5" providerId="ADAL" clId="{CACF7B39-15D8-4AB0-B094-4E7549337A18}" dt="2026-09-02T19:30:28.267" v="5"/>
        <pc:sldMkLst>
          <pc:docMk/>
          <pc:sldMk cId="195229696" sldId="259"/>
        </pc:sldMkLst>
        <pc:spChg chg="mod">
          <ac:chgData name="Joannes Reyes" userId="c20a8a02-b4fe-42f6-8098-28f80703c1a5" providerId="ADAL" clId="{CACF7B39-15D8-4AB0-B094-4E7549337A18}" dt="2026-09-02T19:30:28.267" v="5"/>
          <ac:spMkLst>
            <pc:docMk/>
            <pc:sldMk cId="195229696" sldId="259"/>
            <ac:spMk id="3" creationId="{2003798A-0C0A-32F8-895B-CF8299FE1A4A}"/>
          </ac:spMkLst>
        </pc:spChg>
      </pc:sldChg>
      <pc:sldChg chg="addSp">
        <pc:chgData name="Joannes Reyes" userId="c20a8a02-b4fe-42f6-8098-28f80703c1a5" providerId="ADAL" clId="{CACF7B39-15D8-4AB0-B094-4E7549337A18}" dt="2026-09-02T18:39:13.736" v="4"/>
        <pc:sldMkLst>
          <pc:docMk/>
          <pc:sldMk cId="2522421114" sldId="260"/>
        </pc:sldMkLst>
        <pc:picChg chg="add">
          <ac:chgData name="Joannes Reyes" userId="c20a8a02-b4fe-42f6-8098-28f80703c1a5" providerId="ADAL" clId="{CACF7B39-15D8-4AB0-B094-4E7549337A18}" dt="2026-09-02T18:39:13.736" v="4"/>
          <ac:picMkLst>
            <pc:docMk/>
            <pc:sldMk cId="2522421114" sldId="260"/>
            <ac:picMk id="4" creationId="{5A4B6E00-3309-30EB-70AA-A72650142810}"/>
          </ac:picMkLst>
        </pc:picChg>
      </pc:sldChg>
      <pc:sldChg chg="addSp modSp">
        <pc:chgData name="Joannes Reyes" userId="c20a8a02-b4fe-42f6-8098-28f80703c1a5" providerId="ADAL" clId="{CACF7B39-15D8-4AB0-B094-4E7549337A18}" dt="2026-09-02T18:38:46.971" v="3"/>
        <pc:sldMkLst>
          <pc:docMk/>
          <pc:sldMk cId="3745010558" sldId="261"/>
        </pc:sldMkLst>
        <pc:spChg chg="mod">
          <ac:chgData name="Joannes Reyes" userId="c20a8a02-b4fe-42f6-8098-28f80703c1a5" providerId="ADAL" clId="{CACF7B39-15D8-4AB0-B094-4E7549337A18}" dt="2026-09-02T18:38:33.837" v="2"/>
          <ac:spMkLst>
            <pc:docMk/>
            <pc:sldMk cId="3745010558" sldId="261"/>
            <ac:spMk id="3" creationId="{D16F23FA-F450-9C87-0C4E-6074BE696429}"/>
          </ac:spMkLst>
        </pc:spChg>
        <pc:picChg chg="add">
          <ac:chgData name="Joannes Reyes" userId="c20a8a02-b4fe-42f6-8098-28f80703c1a5" providerId="ADAL" clId="{CACF7B39-15D8-4AB0-B094-4E7549337A18}" dt="2026-09-02T18:38:46.971" v="3"/>
          <ac:picMkLst>
            <pc:docMk/>
            <pc:sldMk cId="3745010558" sldId="261"/>
            <ac:picMk id="4" creationId="{8A8F6157-24E5-B558-F786-9F51ABACFC5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453A5-163B-2F72-6ACE-1F8EB00BC1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211CDA-3B5D-B239-F234-9EF37C2F57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B4A1EF-F1A1-30A4-5658-A795C59ED454}"/>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54EFFFB7-32B9-6E5F-84C3-9A75524708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D0383-64C5-D650-01A3-9F74346F59E6}"/>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2984171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8FDDC-489C-F595-0734-284373118C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A168AB-898D-9FEE-4DF8-F97A64E3E0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505DA-EAFD-64DC-DD10-A6C0CA3D5035}"/>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BEE49095-B435-C574-C1D0-6F54CFDA07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8D7CAA-ABFD-C25C-E662-00D800371E78}"/>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809990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5557F-DA03-F7F2-622B-AA9F3C6C25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07202-002E-290A-2CBE-6E9526F01D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B00545-077A-916B-1A5C-70B7F5D8F15D}"/>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4D00F753-2443-B0E3-228B-4F7D59DDC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F9BD8-3E13-DD74-D298-1F5BC7C93C25}"/>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165731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6DAC-0E41-D84E-A027-EBB1570B3A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42A77B-F3B5-9D92-547A-7E5B72045E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5ADFD6-3DC9-504B-6AB7-993854B1C5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618909-91A6-A15C-24AB-C4296F38AF8E}"/>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6" name="Footer Placeholder 5">
            <a:extLst>
              <a:ext uri="{FF2B5EF4-FFF2-40B4-BE49-F238E27FC236}">
                <a16:creationId xmlns:a16="http://schemas.microsoft.com/office/drawing/2014/main" id="{F570BFDC-3314-3573-36E6-A5655E007E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275BB-0628-0581-F12E-99AA237A7C29}"/>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193128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74FB5-8517-09A2-B579-0578643941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719BFC-513D-E31E-0EBD-58FE72E1C4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0C8266-0292-0790-04E4-69A717BF9A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022740-96D5-A282-CE55-728915FC40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382837-8AC6-8827-1B34-54DF1BD739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FF8C25-69A7-70EE-1C63-EF027E05C2E6}"/>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8" name="Footer Placeholder 7">
            <a:extLst>
              <a:ext uri="{FF2B5EF4-FFF2-40B4-BE49-F238E27FC236}">
                <a16:creationId xmlns:a16="http://schemas.microsoft.com/office/drawing/2014/main" id="{8AAFB3EA-5E4A-92D7-3650-937215CF08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F3C3FF-C5E0-C38E-B8E0-7CE87F7631C4}"/>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1917416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31372-2A58-F61E-9533-15D206619E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339A80-D949-8523-D640-2085BE269703}"/>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4" name="Footer Placeholder 3">
            <a:extLst>
              <a:ext uri="{FF2B5EF4-FFF2-40B4-BE49-F238E27FC236}">
                <a16:creationId xmlns:a16="http://schemas.microsoft.com/office/drawing/2014/main" id="{9E4F0C75-F0EF-6996-7243-D29868D644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38FAC4-65CF-7D21-6CBE-115669F6039C}"/>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2857411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7C6E0-D2CB-9F83-3D68-C1BF75BBE1F8}"/>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3" name="Footer Placeholder 2">
            <a:extLst>
              <a:ext uri="{FF2B5EF4-FFF2-40B4-BE49-F238E27FC236}">
                <a16:creationId xmlns:a16="http://schemas.microsoft.com/office/drawing/2014/main" id="{736BC43C-17B6-C264-81DA-3960C77F97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D98843-52B7-25A6-8825-10932907A428}"/>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258706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8EEC8-EDD7-9022-0D47-E72724763D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21A4BC-9F4F-2C3D-959F-4232E5B75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4F546A-817A-0832-66CA-8841B5B22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3081B-8AB7-2725-BA6C-B0C63C2D808E}"/>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6" name="Footer Placeholder 5">
            <a:extLst>
              <a:ext uri="{FF2B5EF4-FFF2-40B4-BE49-F238E27FC236}">
                <a16:creationId xmlns:a16="http://schemas.microsoft.com/office/drawing/2014/main" id="{0A1A0143-F0D0-5248-2588-44C5724E70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B16D9B-224D-B2CC-8A6B-443F35019127}"/>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629720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C243-8566-FA67-A7E9-07AEBA0010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02469-2101-9E47-CD78-1B5A07DAE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1FF9EC-7DD6-9DC0-5D96-F2CF78124E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50CDCB-56BB-0821-FD63-4798FE371BBF}"/>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6" name="Footer Placeholder 5">
            <a:extLst>
              <a:ext uri="{FF2B5EF4-FFF2-40B4-BE49-F238E27FC236}">
                <a16:creationId xmlns:a16="http://schemas.microsoft.com/office/drawing/2014/main" id="{154D65D2-1A25-ACC2-2AEC-B8620ADC91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6A60E9-3262-6A83-D3AC-E510B2C5ED46}"/>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1666773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D047-38E9-0B43-D387-879FCABA41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7E77AB-BC67-53CB-258F-4C25507C8F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551F1-D88C-884B-5EF1-5A291263CEEC}"/>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A3549673-9464-D7AF-9547-C630D7635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E4B7E-D06B-F7A3-3273-7383FC43EF2C}"/>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1528666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DDE01F-FBB4-1ABA-2837-77553303C1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32606B-D68A-8740-B64E-F2B2396816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2F27E-C8E9-3D66-23CD-F5A88666538F}"/>
              </a:ext>
            </a:extLst>
          </p:cNvPr>
          <p:cNvSpPr>
            <a:spLocks noGrp="1"/>
          </p:cNvSpPr>
          <p:nvPr>
            <p:ph type="dt" sz="half" idx="10"/>
          </p:nvPr>
        </p:nvSpPr>
        <p:spPr/>
        <p:txBody>
          <a:body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4593EBDA-13F5-A92B-929A-FC3219BE52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41B4D-9943-717F-01E5-039CDA3CDFCD}"/>
              </a:ext>
            </a:extLst>
          </p:cNvPr>
          <p:cNvSpPr>
            <a:spLocks noGrp="1"/>
          </p:cNvSpPr>
          <p:nvPr>
            <p:ph type="sldNum" sz="quarter" idx="12"/>
          </p:nvPr>
        </p:nvSpPr>
        <p:spPr/>
        <p:txBody>
          <a:bodyPr/>
          <a:lstStyle/>
          <a:p>
            <a:fld id="{0C03A5D2-566B-4D7D-801B-32047599BDB8}" type="slidenum">
              <a:rPr lang="en-US" smtClean="0"/>
              <a:t>‹#›</a:t>
            </a:fld>
            <a:endParaRPr lang="en-US"/>
          </a:p>
        </p:txBody>
      </p:sp>
    </p:spTree>
    <p:extLst>
      <p:ext uri="{BB962C8B-B14F-4D97-AF65-F5344CB8AC3E}">
        <p14:creationId xmlns:p14="http://schemas.microsoft.com/office/powerpoint/2010/main" val="722475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12891A-BDEE-936B-EEE3-AC14663D61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E8C3DC-9B3C-BBED-1628-77F975F421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635D6E-62BF-BACA-9135-AD314B4F40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654F80-D135-46AC-8064-60FFD711B316}" type="datetimeFigureOut">
              <a:rPr lang="en-US" smtClean="0"/>
              <a:t>9/3/2026</a:t>
            </a:fld>
            <a:endParaRPr lang="en-US"/>
          </a:p>
        </p:txBody>
      </p:sp>
      <p:sp>
        <p:nvSpPr>
          <p:cNvPr id="5" name="Footer Placeholder 4">
            <a:extLst>
              <a:ext uri="{FF2B5EF4-FFF2-40B4-BE49-F238E27FC236}">
                <a16:creationId xmlns:a16="http://schemas.microsoft.com/office/drawing/2014/main" id="{C502FF7F-70BE-7F7D-10AB-301FD7C339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FE8786-B4CE-B608-4356-B12B0938A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03A5D2-566B-4D7D-801B-32047599BDB8}" type="slidenum">
              <a:rPr lang="en-US" smtClean="0"/>
              <a:t>‹#›</a:t>
            </a:fld>
            <a:endParaRPr lang="en-US"/>
          </a:p>
        </p:txBody>
      </p:sp>
    </p:spTree>
    <p:extLst>
      <p:ext uri="{BB962C8B-B14F-4D97-AF65-F5344CB8AC3E}">
        <p14:creationId xmlns:p14="http://schemas.microsoft.com/office/powerpoint/2010/main" val="241124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5C062-684E-DFCD-1E20-D787F967D6BE}"/>
              </a:ext>
            </a:extLst>
          </p:cNvPr>
          <p:cNvSpPr>
            <a:spLocks noGrp="1"/>
          </p:cNvSpPr>
          <p:nvPr>
            <p:ph type="ctrTitle"/>
          </p:nvPr>
        </p:nvSpPr>
        <p:spPr/>
        <p:txBody>
          <a:bodyPr/>
          <a:lstStyle/>
          <a:p>
            <a:r>
              <a:rPr lang="en-US"/>
              <a:t>The Relational Data Model</a:t>
            </a:r>
          </a:p>
        </p:txBody>
      </p:sp>
    </p:spTree>
    <p:extLst>
      <p:ext uri="{BB962C8B-B14F-4D97-AF65-F5344CB8AC3E}">
        <p14:creationId xmlns:p14="http://schemas.microsoft.com/office/powerpoint/2010/main" val="2720955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8159D7-AE7F-FC52-DD3B-1BB86937032E}"/>
              </a:ext>
            </a:extLst>
          </p:cNvPr>
          <p:cNvSpPr txBox="1"/>
          <p:nvPr/>
        </p:nvSpPr>
        <p:spPr>
          <a:xfrm>
            <a:off x="642096" y="507883"/>
            <a:ext cx="10666880" cy="2677656"/>
          </a:xfrm>
          <a:prstGeom prst="rect">
            <a:avLst/>
          </a:prstGeom>
          <a:noFill/>
        </p:spPr>
        <p:txBody>
          <a:bodyPr wrap="square">
            <a:spAutoFit/>
          </a:bodyPr>
          <a:lstStyle/>
          <a:p>
            <a:pPr>
              <a:buNone/>
            </a:pPr>
            <a:r>
              <a:rPr lang="en-US" sz="2400" b="1"/>
              <a:t>Relational Data Model</a:t>
            </a:r>
          </a:p>
          <a:p>
            <a:pPr>
              <a:buNone/>
            </a:pPr>
            <a:endParaRPr lang="en-US" sz="2400" b="1"/>
          </a:p>
          <a:p>
            <a:pPr>
              <a:buNone/>
            </a:pPr>
            <a:r>
              <a:rPr lang="en-US" sz="2400"/>
              <a:t>The </a:t>
            </a:r>
            <a:r>
              <a:rPr lang="en-US" sz="2400" b="1"/>
              <a:t>relational data model</a:t>
            </a:r>
            <a:r>
              <a:rPr lang="en-US" sz="2400"/>
              <a:t> is a logical data model that organizes data into </a:t>
            </a:r>
            <a:r>
              <a:rPr lang="en-US" sz="2400" b="1"/>
              <a:t>relations (tables)</a:t>
            </a:r>
            <a:r>
              <a:rPr lang="en-US" sz="2400"/>
              <a:t> consisting of </a:t>
            </a:r>
            <a:r>
              <a:rPr lang="en-US" sz="2400" b="1"/>
              <a:t>rows (tuples)</a:t>
            </a:r>
            <a:r>
              <a:rPr lang="en-US" sz="2400"/>
              <a:t> and </a:t>
            </a:r>
            <a:r>
              <a:rPr lang="en-US" sz="2400" b="1"/>
              <a:t>columns (attributes)</a:t>
            </a:r>
            <a:r>
              <a:rPr lang="en-US" sz="2400"/>
              <a:t>.</a:t>
            </a:r>
          </a:p>
          <a:p>
            <a:pPr>
              <a:buNone/>
            </a:pPr>
            <a:endParaRPr lang="en-US" sz="2400"/>
          </a:p>
          <a:p>
            <a:pPr>
              <a:buNone/>
            </a:pPr>
            <a:r>
              <a:rPr lang="en-US" sz="2400"/>
              <a:t>Relationships between tables are typically established using </a:t>
            </a:r>
            <a:r>
              <a:rPr lang="en-US" sz="2400" b="1"/>
              <a:t>primary keys and foreign keys</a:t>
            </a:r>
            <a:r>
              <a:rPr lang="en-US" sz="2400"/>
              <a:t>.</a:t>
            </a:r>
          </a:p>
        </p:txBody>
      </p:sp>
    </p:spTree>
    <p:extLst>
      <p:ext uri="{BB962C8B-B14F-4D97-AF65-F5344CB8AC3E}">
        <p14:creationId xmlns:p14="http://schemas.microsoft.com/office/powerpoint/2010/main" val="4125675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505864-1839-432F-5A6F-48E63F560997}"/>
              </a:ext>
            </a:extLst>
          </p:cNvPr>
          <p:cNvSpPr txBox="1"/>
          <p:nvPr/>
        </p:nvSpPr>
        <p:spPr>
          <a:xfrm>
            <a:off x="722779" y="471571"/>
            <a:ext cx="10707221" cy="5262979"/>
          </a:xfrm>
          <a:prstGeom prst="rect">
            <a:avLst/>
          </a:prstGeom>
          <a:noFill/>
        </p:spPr>
        <p:txBody>
          <a:bodyPr wrap="square">
            <a:spAutoFit/>
          </a:bodyPr>
          <a:lstStyle/>
          <a:p>
            <a:r>
              <a:rPr lang="en-US" sz="2400" b="1"/>
              <a:t>Domain</a:t>
            </a:r>
          </a:p>
          <a:p>
            <a:r>
              <a:rPr lang="en-US" sz="2400"/>
              <a:t>A domain is the original sets of atomic values used to model data. By atomic value, we mean that each value in the domain is indivisible as far as the relational model is concerned. </a:t>
            </a:r>
          </a:p>
          <a:p>
            <a:endParaRPr lang="en-US" sz="2400"/>
          </a:p>
          <a:p>
            <a:r>
              <a:rPr lang="en-US" sz="2400"/>
              <a:t>For example:</a:t>
            </a:r>
          </a:p>
          <a:p>
            <a:pPr marL="342900" indent="-342900">
              <a:buFont typeface="Arial" panose="020B0604020202020204" pitchFamily="34" charset="0"/>
              <a:buChar char="•"/>
            </a:pPr>
            <a:r>
              <a:rPr lang="en-US" sz="2400"/>
              <a:t>The domain of Marital Status has a set of possibilities: </a:t>
            </a:r>
          </a:p>
          <a:p>
            <a:pPr marL="800100" lvl="1" indent="-342900">
              <a:buFont typeface="Arial" panose="020B0604020202020204" pitchFamily="34" charset="0"/>
              <a:buChar char="•"/>
            </a:pPr>
            <a:r>
              <a:rPr lang="en-US" sz="2400"/>
              <a:t>Married, Single, Divorced.</a:t>
            </a:r>
          </a:p>
          <a:p>
            <a:pPr marL="342900" indent="-342900">
              <a:buFont typeface="Arial" panose="020B0604020202020204" pitchFamily="34" charset="0"/>
              <a:buChar char="•"/>
            </a:pPr>
            <a:r>
              <a:rPr lang="en-US" sz="2400"/>
              <a:t>The domain of Shift has the set of all possible days: </a:t>
            </a:r>
          </a:p>
          <a:p>
            <a:pPr marL="800100" lvl="1" indent="-342900">
              <a:buFont typeface="Arial" panose="020B0604020202020204" pitchFamily="34" charset="0"/>
              <a:buChar char="•"/>
            </a:pPr>
            <a:r>
              <a:rPr lang="en-US" sz="2400"/>
              <a:t>{Mon, Tue, Wed…}.</a:t>
            </a:r>
          </a:p>
          <a:p>
            <a:pPr marL="342900" indent="-342900">
              <a:buFont typeface="Arial" panose="020B0604020202020204" pitchFamily="34" charset="0"/>
              <a:buChar char="•"/>
            </a:pPr>
            <a:r>
              <a:rPr lang="en-US" sz="2400"/>
              <a:t>The domain of Salary is the set of all floating-point numbers greater than 0 and less than 200,000.</a:t>
            </a:r>
          </a:p>
          <a:p>
            <a:pPr marL="342900" indent="-342900">
              <a:buFont typeface="Arial" panose="020B0604020202020204" pitchFamily="34" charset="0"/>
              <a:buChar char="•"/>
            </a:pPr>
            <a:r>
              <a:rPr lang="en-US" sz="2400"/>
              <a:t>The domain of First Name is the set of character strings that represents names of people.</a:t>
            </a:r>
          </a:p>
        </p:txBody>
      </p:sp>
    </p:spTree>
    <p:extLst>
      <p:ext uri="{BB962C8B-B14F-4D97-AF65-F5344CB8AC3E}">
        <p14:creationId xmlns:p14="http://schemas.microsoft.com/office/powerpoint/2010/main" val="364552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03798A-0C0A-32F8-895B-CF8299FE1A4A}"/>
              </a:ext>
            </a:extLst>
          </p:cNvPr>
          <p:cNvSpPr txBox="1"/>
          <p:nvPr/>
        </p:nvSpPr>
        <p:spPr>
          <a:xfrm>
            <a:off x="829795" y="312928"/>
            <a:ext cx="10532409" cy="5909310"/>
          </a:xfrm>
          <a:prstGeom prst="rect">
            <a:avLst/>
          </a:prstGeom>
          <a:noFill/>
        </p:spPr>
        <p:txBody>
          <a:bodyPr wrap="square">
            <a:spAutoFit/>
          </a:bodyPr>
          <a:lstStyle/>
          <a:p>
            <a:r>
              <a:rPr lang="en-US" sz="2400" b="1"/>
              <a:t>Relation</a:t>
            </a:r>
          </a:p>
          <a:p>
            <a:r>
              <a:rPr lang="en-US" sz="2400"/>
              <a:t>A </a:t>
            </a:r>
            <a:r>
              <a:rPr lang="en-US" sz="2400" b="1"/>
              <a:t>relation</a:t>
            </a:r>
            <a:r>
              <a:rPr lang="en-US" sz="2400"/>
              <a:t>, also known as a </a:t>
            </a:r>
            <a:r>
              <a:rPr lang="en-US" sz="2400" b="1"/>
              <a:t>table</a:t>
            </a:r>
            <a:r>
              <a:rPr lang="en-US" sz="2400"/>
              <a:t> or </a:t>
            </a:r>
            <a:r>
              <a:rPr lang="en-US" sz="2400" b="1"/>
              <a:t>file</a:t>
            </a:r>
            <a:r>
              <a:rPr lang="en-US" sz="2400"/>
              <a:t>, is a subset of the Cartesian product of a list of domains characterized by a name. </a:t>
            </a:r>
          </a:p>
          <a:p>
            <a:endParaRPr lang="en-US" sz="2400"/>
          </a:p>
          <a:p>
            <a:r>
              <a:rPr lang="en-US" sz="2400"/>
              <a:t>And within a table, each row represents a group of related data values. </a:t>
            </a:r>
          </a:p>
          <a:p>
            <a:pPr marL="457200" indent="-457200">
              <a:buFont typeface="+mj-lt"/>
              <a:buAutoNum type="arabicPeriod"/>
            </a:pPr>
            <a:r>
              <a:rPr lang="en-US" sz="2400"/>
              <a:t>A row, or </a:t>
            </a:r>
            <a:r>
              <a:rPr lang="en-US" sz="2400" b="1"/>
              <a:t>record</a:t>
            </a:r>
            <a:r>
              <a:rPr lang="en-US" sz="2400"/>
              <a:t>, is also known as a </a:t>
            </a:r>
            <a:r>
              <a:rPr lang="en-US" sz="2400" b="1"/>
              <a:t>tuple</a:t>
            </a:r>
            <a:r>
              <a:rPr lang="en-US" sz="2400"/>
              <a:t>. </a:t>
            </a:r>
          </a:p>
          <a:p>
            <a:pPr marL="457200" indent="-457200">
              <a:buFont typeface="+mj-lt"/>
              <a:buAutoNum type="arabicPeriod"/>
            </a:pPr>
            <a:r>
              <a:rPr lang="en-US" sz="2400"/>
              <a:t>The columns in a table is a </a:t>
            </a:r>
            <a:r>
              <a:rPr lang="en-US" sz="2400" b="1"/>
              <a:t>field</a:t>
            </a:r>
            <a:r>
              <a:rPr lang="en-US" sz="2400"/>
              <a:t> and is also referred to as an </a:t>
            </a:r>
            <a:r>
              <a:rPr lang="en-US" sz="2400" b="1"/>
              <a:t>attribute</a:t>
            </a:r>
            <a:r>
              <a:rPr lang="en-US" sz="2400"/>
              <a:t>. </a:t>
            </a:r>
          </a:p>
          <a:p>
            <a:endParaRPr lang="en-US" sz="2400"/>
          </a:p>
          <a:p>
            <a:r>
              <a:rPr lang="en-US" sz="2400" b="1" i="0">
                <a:solidFill>
                  <a:schemeClr val="tx1"/>
                </a:solidFill>
                <a:effectLst/>
                <a:latin typeface="+mn-lt"/>
              </a:rPr>
              <a:t>Degree</a:t>
            </a:r>
          </a:p>
          <a:p>
            <a:r>
              <a:rPr lang="en-US" sz="2400" b="0" i="0">
                <a:solidFill>
                  <a:schemeClr val="tx1"/>
                </a:solidFill>
                <a:effectLst/>
                <a:latin typeface="+mn-lt"/>
              </a:rPr>
              <a:t>The </a:t>
            </a:r>
            <a:r>
              <a:rPr lang="en-US" sz="2400" b="0" i="1">
                <a:solidFill>
                  <a:schemeClr val="tx1"/>
                </a:solidFill>
                <a:effectLst/>
                <a:latin typeface="+mn-lt"/>
              </a:rPr>
              <a:t>degree</a:t>
            </a:r>
            <a:r>
              <a:rPr lang="en-US" sz="2400" b="0" i="0">
                <a:solidFill>
                  <a:schemeClr val="tx1"/>
                </a:solidFill>
                <a:effectLst/>
                <a:latin typeface="+mn-lt"/>
              </a:rPr>
              <a:t> is the number of attributes in a table.</a:t>
            </a:r>
            <a:endParaRPr lang="en-US">
              <a:solidFill>
                <a:srgbClr val="373D3F"/>
              </a:solidFill>
              <a:latin typeface="Lora" pitchFamily="2" charset="0"/>
            </a:endParaRPr>
          </a:p>
          <a:p>
            <a:endParaRPr lang="en-US" sz="2400"/>
          </a:p>
          <a:p>
            <a:r>
              <a:rPr lang="en-US" sz="2400"/>
              <a:t>The steps below outline the logic between a relation and its domains.</a:t>
            </a:r>
          </a:p>
          <a:p>
            <a:r>
              <a:rPr lang="en-US" sz="2400"/>
              <a:t>1.	Given n domains are denoted by D1, D2, … Dn</a:t>
            </a:r>
          </a:p>
          <a:p>
            <a:r>
              <a:rPr lang="en-US" sz="2400"/>
              <a:t>2.	And r is a relation defined on these domains</a:t>
            </a:r>
          </a:p>
          <a:p>
            <a:r>
              <a:rPr lang="en-US" sz="2400"/>
              <a:t>3.	Then r ⊆ D1×D2×…×Dn</a:t>
            </a:r>
          </a:p>
          <a:p>
            <a:endParaRPr lang="en-US"/>
          </a:p>
        </p:txBody>
      </p:sp>
    </p:spTree>
    <p:extLst>
      <p:ext uri="{BB962C8B-B14F-4D97-AF65-F5344CB8AC3E}">
        <p14:creationId xmlns:p14="http://schemas.microsoft.com/office/powerpoint/2010/main" val="19522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 calcmode="lin" valueType="num">
                                      <p:cBhvr additive="base">
                                        <p:cTn id="2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anim calcmode="lin" valueType="num">
                                      <p:cBhvr additive="base">
                                        <p:cTn id="31"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 calcmode="lin" valueType="num">
                                      <p:cBhvr additive="base">
                                        <p:cTn id="3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anim calcmode="lin" valueType="num">
                                      <p:cBhvr additive="base">
                                        <p:cTn id="39"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8A250C-BE96-76DE-ABFD-855D8D06A643}"/>
              </a:ext>
            </a:extLst>
          </p:cNvPr>
          <p:cNvSpPr txBox="1"/>
          <p:nvPr/>
        </p:nvSpPr>
        <p:spPr>
          <a:xfrm>
            <a:off x="773206" y="410202"/>
            <a:ext cx="9550774" cy="3046988"/>
          </a:xfrm>
          <a:prstGeom prst="rect">
            <a:avLst/>
          </a:prstGeom>
          <a:noFill/>
        </p:spPr>
        <p:txBody>
          <a:bodyPr wrap="square">
            <a:spAutoFit/>
          </a:bodyPr>
          <a:lstStyle/>
          <a:p>
            <a:r>
              <a:rPr lang="en-US" sz="2400" b="1"/>
              <a:t>Database</a:t>
            </a:r>
          </a:p>
          <a:p>
            <a:r>
              <a:rPr lang="en-US" sz="2400"/>
              <a:t>A database is composed of multiple tables and each table holds the data. </a:t>
            </a:r>
          </a:p>
          <a:p>
            <a:endParaRPr lang="en-US" sz="2400"/>
          </a:p>
          <a:p>
            <a:r>
              <a:rPr lang="en-US" sz="2400" b="1"/>
              <a:t>Column</a:t>
            </a:r>
          </a:p>
          <a:p>
            <a:r>
              <a:rPr lang="en-US" sz="2400"/>
              <a:t>The principal storage units are called columns or fields or attributes. These house the basic components of data into which your content can be broken down. </a:t>
            </a:r>
          </a:p>
        </p:txBody>
      </p:sp>
      <p:pic>
        <p:nvPicPr>
          <p:cNvPr id="4" name="Picture 3" descr="Blue cylinder with three white rectangles each with a list of words.">
            <a:extLst>
              <a:ext uri="{FF2B5EF4-FFF2-40B4-BE49-F238E27FC236}">
                <a16:creationId xmlns:a16="http://schemas.microsoft.com/office/drawing/2014/main" id="{5A4B6E00-3309-30EB-70AA-A72650142810}"/>
              </a:ext>
            </a:extLst>
          </p:cNvPr>
          <p:cNvPicPr>
            <a:picLocks noChangeAspect="1"/>
          </p:cNvPicPr>
          <p:nvPr/>
        </p:nvPicPr>
        <p:blipFill>
          <a:blip r:embed="rId2"/>
          <a:stretch>
            <a:fillRect/>
          </a:stretch>
        </p:blipFill>
        <p:spPr>
          <a:xfrm>
            <a:off x="3634068" y="3627064"/>
            <a:ext cx="3829050" cy="2820734"/>
          </a:xfrm>
          <a:prstGeom prst="rect">
            <a:avLst/>
          </a:prstGeom>
        </p:spPr>
      </p:pic>
    </p:spTree>
    <p:extLst>
      <p:ext uri="{BB962C8B-B14F-4D97-AF65-F5344CB8AC3E}">
        <p14:creationId xmlns:p14="http://schemas.microsoft.com/office/powerpoint/2010/main" val="2522421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6F23FA-F450-9C87-0C4E-6074BE696429}"/>
              </a:ext>
            </a:extLst>
          </p:cNvPr>
          <p:cNvSpPr txBox="1"/>
          <p:nvPr/>
        </p:nvSpPr>
        <p:spPr>
          <a:xfrm>
            <a:off x="736226" y="607403"/>
            <a:ext cx="10613091" cy="2677656"/>
          </a:xfrm>
          <a:prstGeom prst="rect">
            <a:avLst/>
          </a:prstGeom>
          <a:noFill/>
        </p:spPr>
        <p:txBody>
          <a:bodyPr wrap="square">
            <a:spAutoFit/>
          </a:bodyPr>
          <a:lstStyle/>
          <a:p>
            <a:r>
              <a:rPr lang="en-US" sz="2400" b="1"/>
              <a:t>Records</a:t>
            </a:r>
          </a:p>
          <a:p>
            <a:r>
              <a:rPr lang="en-US" sz="2400"/>
              <a:t>Records contain fields that are related, such as a customer or an employee. As noted earlier, a </a:t>
            </a:r>
            <a:r>
              <a:rPr lang="en-US" sz="2400" b="1"/>
              <a:t>tuple</a:t>
            </a:r>
            <a:r>
              <a:rPr lang="en-US" sz="2400"/>
              <a:t> is another term used for record.</a:t>
            </a:r>
          </a:p>
          <a:p>
            <a:endParaRPr lang="en-US" sz="2400"/>
          </a:p>
          <a:p>
            <a:r>
              <a:rPr lang="en-US" sz="2400" b="1"/>
              <a:t>Records</a:t>
            </a:r>
            <a:r>
              <a:rPr lang="en-US" sz="2400"/>
              <a:t> and </a:t>
            </a:r>
            <a:r>
              <a:rPr lang="en-US" sz="2400" b="1"/>
              <a:t>fields</a:t>
            </a:r>
            <a:r>
              <a:rPr lang="en-US" sz="2400"/>
              <a:t> form the basis of all databases. A simple table  gives us the clearest picture of how records and fields work together in a database storage project.</a:t>
            </a:r>
          </a:p>
        </p:txBody>
      </p:sp>
      <p:pic>
        <p:nvPicPr>
          <p:cNvPr id="4" name="Picture 3" descr="image">
            <a:extLst>
              <a:ext uri="{FF2B5EF4-FFF2-40B4-BE49-F238E27FC236}">
                <a16:creationId xmlns:a16="http://schemas.microsoft.com/office/drawing/2014/main" id="{8A8F6157-24E5-B558-F786-9F51ABACFC58}"/>
              </a:ext>
            </a:extLst>
          </p:cNvPr>
          <p:cNvPicPr>
            <a:picLocks noChangeAspect="1"/>
          </p:cNvPicPr>
          <p:nvPr/>
        </p:nvPicPr>
        <p:blipFill>
          <a:blip r:embed="rId2"/>
          <a:stretch>
            <a:fillRect/>
          </a:stretch>
        </p:blipFill>
        <p:spPr>
          <a:xfrm>
            <a:off x="2625537" y="3334871"/>
            <a:ext cx="6531909" cy="3178862"/>
          </a:xfrm>
          <a:prstGeom prst="rect">
            <a:avLst/>
          </a:prstGeom>
        </p:spPr>
      </p:pic>
    </p:spTree>
    <p:extLst>
      <p:ext uri="{BB962C8B-B14F-4D97-AF65-F5344CB8AC3E}">
        <p14:creationId xmlns:p14="http://schemas.microsoft.com/office/powerpoint/2010/main" val="374501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26B238-6C72-1D8D-F507-14F69AD4201A}"/>
              </a:ext>
            </a:extLst>
          </p:cNvPr>
          <p:cNvSpPr txBox="1"/>
          <p:nvPr/>
        </p:nvSpPr>
        <p:spPr>
          <a:xfrm>
            <a:off x="1005167" y="650792"/>
            <a:ext cx="10384491" cy="5632311"/>
          </a:xfrm>
          <a:prstGeom prst="rect">
            <a:avLst/>
          </a:prstGeom>
          <a:noFill/>
        </p:spPr>
        <p:txBody>
          <a:bodyPr wrap="square">
            <a:spAutoFit/>
          </a:bodyPr>
          <a:lstStyle/>
          <a:p>
            <a:pPr indent="0" algn="l">
              <a:buNone/>
            </a:pPr>
            <a:r>
              <a:rPr lang="en-US" sz="2400" b="1" i="0">
                <a:solidFill>
                  <a:schemeClr val="tx1"/>
                </a:solidFill>
                <a:effectLst/>
                <a:latin typeface="+mn-lt"/>
              </a:rPr>
              <a:t>Properties of a Table</a:t>
            </a:r>
          </a:p>
          <a:p>
            <a:pPr marL="342900" lvl="0" indent="-342900" algn="l">
              <a:buFont typeface="Arial" panose="020B0604020202020204" pitchFamily="34" charset="0"/>
              <a:buChar char="•"/>
            </a:pPr>
            <a:r>
              <a:rPr lang="en-US" sz="2400" b="0" i="0">
                <a:solidFill>
                  <a:schemeClr val="tx1"/>
                </a:solidFill>
                <a:effectLst/>
                <a:latin typeface="+mn-lt"/>
              </a:rPr>
              <a:t>A table has a name that is distinct from all other tables in the database.</a:t>
            </a:r>
          </a:p>
          <a:p>
            <a:pPr marL="342900" lvl="0" indent="-342900" algn="l">
              <a:buFont typeface="Arial" panose="020B0604020202020204" pitchFamily="34" charset="0"/>
              <a:buChar char="•"/>
            </a:pPr>
            <a:r>
              <a:rPr lang="en-US" sz="2400" b="0" i="0">
                <a:solidFill>
                  <a:schemeClr val="tx1"/>
                </a:solidFill>
                <a:effectLst/>
                <a:latin typeface="+mn-lt"/>
              </a:rPr>
              <a:t>There are no duplicate rows; each row is distinct.</a:t>
            </a:r>
          </a:p>
          <a:p>
            <a:pPr marL="342900" lvl="0" indent="-342900" algn="l">
              <a:buFont typeface="Arial" panose="020B0604020202020204" pitchFamily="34" charset="0"/>
              <a:buChar char="•"/>
            </a:pPr>
            <a:r>
              <a:rPr lang="en-US" sz="2400" b="0" i="0">
                <a:solidFill>
                  <a:schemeClr val="tx1"/>
                </a:solidFill>
                <a:effectLst/>
                <a:latin typeface="+mn-lt"/>
              </a:rPr>
              <a:t>Entries in columns are atomic. The table does not contain repeating groups or multivalued attributes.</a:t>
            </a:r>
          </a:p>
          <a:p>
            <a:pPr marL="342900" lvl="0" indent="-342900" algn="l">
              <a:buFont typeface="Arial" panose="020B0604020202020204" pitchFamily="34" charset="0"/>
              <a:buChar char="•"/>
            </a:pPr>
            <a:r>
              <a:rPr lang="en-US" sz="2400" b="0" i="0">
                <a:solidFill>
                  <a:schemeClr val="tx1"/>
                </a:solidFill>
                <a:effectLst/>
                <a:latin typeface="+mn-lt"/>
              </a:rPr>
              <a:t>Entries from columns are from the same domain based on their data type including:</a:t>
            </a:r>
          </a:p>
          <a:p>
            <a:pPr marL="742950" lvl="1" indent="-285750" algn="l">
              <a:buFont typeface="Arial" panose="020B0604020202020204" pitchFamily="34" charset="0"/>
              <a:buChar char="•"/>
            </a:pPr>
            <a:r>
              <a:rPr lang="en-US" sz="2400" b="0" i="0">
                <a:solidFill>
                  <a:schemeClr val="tx1"/>
                </a:solidFill>
                <a:effectLst/>
                <a:latin typeface="+mn-lt"/>
              </a:rPr>
              <a:t>number (numeric, integer, float, smallint,…)</a:t>
            </a:r>
          </a:p>
          <a:p>
            <a:pPr marL="742950" lvl="1" indent="-285750" algn="l">
              <a:buFont typeface="Arial" panose="020B0604020202020204" pitchFamily="34" charset="0"/>
              <a:buChar char="•"/>
            </a:pPr>
            <a:r>
              <a:rPr lang="en-US" sz="2400" b="0" i="0">
                <a:solidFill>
                  <a:schemeClr val="tx1"/>
                </a:solidFill>
                <a:effectLst/>
                <a:latin typeface="+mn-lt"/>
              </a:rPr>
              <a:t>character (string)</a:t>
            </a:r>
          </a:p>
          <a:p>
            <a:pPr marL="742950" lvl="1" indent="-285750" algn="l">
              <a:buFont typeface="Arial" panose="020B0604020202020204" pitchFamily="34" charset="0"/>
              <a:buChar char="•"/>
            </a:pPr>
            <a:r>
              <a:rPr lang="en-US" sz="2400" b="0" i="0">
                <a:solidFill>
                  <a:schemeClr val="tx1"/>
                </a:solidFill>
                <a:effectLst/>
                <a:latin typeface="+mn-lt"/>
              </a:rPr>
              <a:t>date</a:t>
            </a:r>
          </a:p>
          <a:p>
            <a:pPr marL="742950" lvl="1" indent="-285750" algn="l">
              <a:buFont typeface="Arial" panose="020B0604020202020204" pitchFamily="34" charset="0"/>
              <a:buChar char="•"/>
            </a:pPr>
            <a:r>
              <a:rPr lang="en-US" sz="2400" b="0" i="0">
                <a:solidFill>
                  <a:schemeClr val="tx1"/>
                </a:solidFill>
                <a:effectLst/>
                <a:latin typeface="+mn-lt"/>
              </a:rPr>
              <a:t>logical (true or false)</a:t>
            </a:r>
          </a:p>
          <a:p>
            <a:pPr marL="342900" lvl="0" indent="-342900" algn="l">
              <a:buFont typeface="Arial" panose="020B0604020202020204" pitchFamily="34" charset="0"/>
              <a:buChar char="•"/>
            </a:pPr>
            <a:r>
              <a:rPr lang="en-US" sz="2400" b="0" i="0">
                <a:solidFill>
                  <a:schemeClr val="tx1"/>
                </a:solidFill>
                <a:effectLst/>
                <a:latin typeface="+mn-lt"/>
              </a:rPr>
              <a:t>Operations combining different data types are disallowed.</a:t>
            </a:r>
          </a:p>
          <a:p>
            <a:pPr marL="342900" lvl="0" indent="-342900" algn="l">
              <a:buFont typeface="Arial" panose="020B0604020202020204" pitchFamily="34" charset="0"/>
              <a:buChar char="•"/>
            </a:pPr>
            <a:r>
              <a:rPr lang="en-US" sz="2400" b="0" i="0">
                <a:solidFill>
                  <a:schemeClr val="tx1"/>
                </a:solidFill>
                <a:effectLst/>
                <a:latin typeface="+mn-lt"/>
              </a:rPr>
              <a:t>Each attribute has a distinct name.</a:t>
            </a:r>
          </a:p>
          <a:p>
            <a:pPr marL="342900" lvl="0" indent="-342900" algn="l">
              <a:buFont typeface="Arial" panose="020B0604020202020204" pitchFamily="34" charset="0"/>
              <a:buChar char="•"/>
            </a:pPr>
            <a:r>
              <a:rPr lang="en-US" sz="2400" b="0" i="0">
                <a:solidFill>
                  <a:schemeClr val="tx1"/>
                </a:solidFill>
                <a:effectLst/>
                <a:latin typeface="+mn-lt"/>
              </a:rPr>
              <a:t>The sequence of columns is insignificant.</a:t>
            </a:r>
          </a:p>
          <a:p>
            <a:pPr marL="342900" lvl="0" indent="-342900" algn="l">
              <a:buFont typeface="Arial" panose="020B0604020202020204" pitchFamily="34" charset="0"/>
              <a:buChar char="•"/>
            </a:pPr>
            <a:r>
              <a:rPr lang="en-US" sz="2400" b="0" i="0">
                <a:solidFill>
                  <a:schemeClr val="tx1"/>
                </a:solidFill>
                <a:effectLst/>
                <a:latin typeface="+mn-lt"/>
              </a:rPr>
              <a:t>The sequence of rows is insignificant.</a:t>
            </a:r>
            <a:endParaRPr lang="en-US" sz="1600" b="0" i="0">
              <a:solidFill>
                <a:srgbClr val="373D3F"/>
              </a:solidFill>
              <a:effectLst/>
              <a:latin typeface="Lora" pitchFamily="2" charset="0"/>
            </a:endParaRPr>
          </a:p>
        </p:txBody>
      </p:sp>
    </p:spTree>
    <p:extLst>
      <p:ext uri="{BB962C8B-B14F-4D97-AF65-F5344CB8AC3E}">
        <p14:creationId xmlns:p14="http://schemas.microsoft.com/office/powerpoint/2010/main" val="401846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 calcmode="lin" valueType="num">
                                      <p:cBhvr additive="base">
                                        <p:cTn id="5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anim calcmode="lin" valueType="num">
                                      <p:cBhvr additive="base">
                                        <p:cTn id="5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515</Words>
  <Application>Microsoft Office PowerPoint</Application>
  <PresentationFormat>Widescreen</PresentationFormat>
  <Paragraphs>52</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Lora</vt:lpstr>
      <vt:lpstr>Office Theme</vt:lpstr>
      <vt:lpstr>The Relational Data Model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Joannes Reyes</dc:creator>
  <cp:lastModifiedBy>Joannes Reyes</cp:lastModifiedBy>
  <cp:revision>3</cp:revision>
  <dcterms:created xsi:type="dcterms:W3CDTF">2026-09-02T18:20:10Z</dcterms:created>
  <dcterms:modified xsi:type="dcterms:W3CDTF">2026-09-03T12:39:38Z</dcterms:modified>
</cp:coreProperties>
</file>