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5" r:id="rId5"/>
    <p:sldId id="261" r:id="rId6"/>
    <p:sldId id="262" r:id="rId7"/>
    <p:sldId id="263" r:id="rId8"/>
    <p:sldId id="266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2" autoAdjust="0"/>
    <p:restoredTop sz="94660"/>
  </p:normalViewPr>
  <p:slideViewPr>
    <p:cSldViewPr snapToGrid="0">
      <p:cViewPr>
        <p:scale>
          <a:sx n="70" d="100"/>
          <a:sy n="70" d="100"/>
        </p:scale>
        <p:origin x="1123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C406-1F3C-0526-D624-5E6428760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252BE-A0CA-3D91-DB8C-73641F813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18AA-31F7-A95E-11A6-8698CCE7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9CBD6-0F74-2699-EDBE-08DDC700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A9E1E-4F8B-8039-ADB9-1DBE44A0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0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CFD3-B45B-C479-B36D-721B81AF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2D02B-E36A-8617-5116-7D7B9BF4A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387DC-83CB-3664-1BD2-75E03BC1F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C6134-C319-D59F-8B5A-C6FB4977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A9FA-DAE3-79DB-C5D3-65139FAD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0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23BB-9C62-8E7D-D28C-94DCADD8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71947-6D09-6AE1-A6AB-BB46276D3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F67EB-9A7C-6DF7-5F2B-7654C8BD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0C1EF-48D5-DF86-BEAF-FDC7440F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35E90-BB5A-DD15-5301-E462DD58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8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4682-2B6B-838C-98DD-6D949D8B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004A-2448-A287-43B1-02DD0BA31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1BCA8-A6F4-9115-1C38-7B5A6C415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4F67C-F362-4E97-8CA8-31C4DC54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89537-A277-E843-A238-D42D7FBE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8F686-3D06-38D3-9EBC-F0F55ABE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00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37DE-0854-CC76-4546-1D593CD22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A8308-630B-8C8E-1048-01B2E707A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3DC6C-5BCF-0CFC-D450-A777E04E8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F52B2-2AF0-0923-EF7E-CD0A479C8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60A46-B249-66C1-9EDD-D5AD2FFA4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3124F-7090-B663-2FE2-2EAC488EB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98A7D-ED1B-95A6-C0F7-BB57C212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80556B-9C4D-5BE1-3240-3069AE59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1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2F55-85D7-989B-734F-ABFE88E1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DAE8-D5B2-8CF1-417D-8C036D51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06966-0B5E-0C5F-9FFF-4B1504EBC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C5DC23-435E-E852-7846-CDB7EF10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6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7D645-D1C5-643B-2F3F-9793224E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39B17-AD4B-BFDF-25F2-D409D42FB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6A08B-883A-E366-8B7B-10C494F0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23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FB16-F38E-6BEC-84A1-62D1F16F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F4FE-808F-509F-36D2-2DDE62698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0A929-FAD4-776A-3E6D-002DD992F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134EE-C37A-07A7-1678-FD92F789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FF32-FE2E-F866-C54B-FCF3A870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4A48-EC21-680C-968B-042AB0D2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3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EFB0-66D8-C971-AAC7-CFB210AA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DB377-AE73-BCC5-C030-75AE3784D8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4B5B6-5098-3C6F-72DE-249ABB464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A979-B674-A74A-7ECF-C0079970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42D7-EC70-00DA-1B30-0FEEA575C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940AF-D4B4-2A7A-6CA5-F98149BD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3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C149-812C-BB59-668F-4FFC5CB5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364E1-5B0B-08BF-613F-8EAFB6738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DFA54-EDE5-5B68-C602-2AF88E7B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4DF2B-A3F5-6AFD-5844-68F0F196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C0748-6AF8-A4B9-A4D6-DCD7950EA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2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0D9ED-9439-6DBD-DB3A-5700B3332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7F485-637C-1862-A072-23BD46FB9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759E-E86A-368A-B71A-DECD1273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718AC-4286-F5F3-78FB-3B49CDC8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06704-8C9B-3F15-676C-2C8A450D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8B0714-E64C-A387-EB29-9B0602C4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B2472-FC81-37CD-6C0D-CFFB12E1D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63164-1E8E-7490-45DA-8C7540649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D51A5-1B31-4D9F-A978-D691202DC5FB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21D5C-C680-2891-825B-C2E07D428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A9230-8A49-E55D-F83F-895514C91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A3B34-9E31-4253-875A-93CE7D70D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3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0182-4FE3-23EA-7457-77CB33B4A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Enhanced Entity Relationship</a:t>
            </a:r>
          </a:p>
        </p:txBody>
      </p:sp>
    </p:spTree>
    <p:extLst>
      <p:ext uri="{BB962C8B-B14F-4D97-AF65-F5344CB8AC3E}">
        <p14:creationId xmlns:p14="http://schemas.microsoft.com/office/powerpoint/2010/main" val="225143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CA314-5A18-B01F-CF25-8766E198BC87}"/>
              </a:ext>
            </a:extLst>
          </p:cNvPr>
          <p:cNvSpPr txBox="1"/>
          <p:nvPr/>
        </p:nvSpPr>
        <p:spPr>
          <a:xfrm>
            <a:off x="1289538" y="335846"/>
            <a:ext cx="785446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/>
              <a:t>ER vs. EER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/>
              <a:t>When we move to an </a:t>
            </a:r>
            <a:r>
              <a:rPr lang="en-US" b="1"/>
              <a:t>Enhanced Entity Relationship (EER)</a:t>
            </a:r>
            <a:r>
              <a:rPr lang="en-US"/>
              <a:t>, threre are additional concepts:</a:t>
            </a:r>
          </a:p>
          <a:p>
            <a:pPr>
              <a:buNone/>
            </a:pPr>
            <a:endParaRPr lang="en-US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Superclass and subclass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Inheritance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Specialization and generalization</a:t>
            </a:r>
            <a:r>
              <a:rPr lang="en-US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Disjointness - Disjoint vs. Overlapping constraints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/>
              <a:t>Completeness - Total vs. Partial specialization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8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C7B8F2-3499-6E7F-53D5-5A3B1D822FC4}"/>
              </a:ext>
            </a:extLst>
          </p:cNvPr>
          <p:cNvSpPr txBox="1"/>
          <p:nvPr/>
        </p:nvSpPr>
        <p:spPr>
          <a:xfrm>
            <a:off x="890676" y="618566"/>
            <a:ext cx="102546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Superclass and Subclass</a:t>
            </a:r>
            <a:br>
              <a:rPr lang="en-US" sz="2400"/>
            </a:br>
            <a:r>
              <a:rPr lang="en-US" sz="2400"/>
              <a:t>A </a:t>
            </a:r>
            <a:r>
              <a:rPr lang="en-US" sz="2400" b="1"/>
              <a:t>superclass</a:t>
            </a:r>
            <a:r>
              <a:rPr lang="en-US" sz="2400"/>
              <a:t> is a general entity type that contains attributes and relationships common to several more specific entity types. A </a:t>
            </a:r>
            <a:r>
              <a:rPr lang="en-US" sz="2400" b="1"/>
              <a:t>subclass</a:t>
            </a:r>
            <a:r>
              <a:rPr lang="en-US" sz="2400"/>
              <a:t> is a specialized entity type that inherits characteristics from the superclass and may have additional attributes or relationships of its own.</a:t>
            </a:r>
          </a:p>
          <a:p>
            <a:br>
              <a:rPr lang="en-US" sz="2400"/>
            </a:br>
            <a:r>
              <a:rPr lang="en-US" sz="2400" i="1"/>
              <a:t>Example: Employee -&gt; Novice, Experienced, Very Experienced</a:t>
            </a:r>
          </a:p>
          <a:p>
            <a:endParaRPr lang="en-US" sz="2400" i="1"/>
          </a:p>
          <a:p>
            <a:r>
              <a:rPr lang="en-US"/>
              <a:t>A subclass does not need to have attributes of its own. It inherits the attributes and relationships of its superclass and may exist simply to represent different constraints, relationships, or classifications.</a:t>
            </a:r>
          </a:p>
          <a:p>
            <a:endParaRPr lang="en-US"/>
          </a:p>
          <a:p>
            <a:r>
              <a:rPr lang="en-US"/>
              <a:t>A Superclass needs to have at least one attribute.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49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01FB7D-F21E-E980-069D-8E68E6C3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427" y="794980"/>
            <a:ext cx="7360203" cy="497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2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FE0AEA-ECEA-2ED6-62CD-69BDDDD86EAD}"/>
              </a:ext>
            </a:extLst>
          </p:cNvPr>
          <p:cNvSpPr txBox="1"/>
          <p:nvPr/>
        </p:nvSpPr>
        <p:spPr>
          <a:xfrm>
            <a:off x="804412" y="662176"/>
            <a:ext cx="987508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Inheritance</a:t>
            </a:r>
            <a:br>
              <a:rPr lang="en-US" sz="2400"/>
            </a:br>
            <a:r>
              <a:rPr lang="en-US" sz="2400" b="1"/>
              <a:t>Inheritance</a:t>
            </a:r>
            <a:r>
              <a:rPr lang="en-US" sz="2400"/>
              <a:t> means that a subclass automatically receives the </a:t>
            </a:r>
            <a:r>
              <a:rPr lang="en-US" sz="2400" b="1"/>
              <a:t>key attributes, other attributes, and relationships</a:t>
            </a:r>
            <a:r>
              <a:rPr lang="en-US" sz="2400"/>
              <a:t> of its superclass. The subclass can also have its own unique attributes.</a:t>
            </a:r>
          </a:p>
          <a:p>
            <a:br>
              <a:rPr lang="en-US" sz="2400"/>
            </a:br>
            <a:r>
              <a:rPr lang="en-US" sz="2400" i="1"/>
              <a:t>Example: Full-Time Employee inherits EmployeeID, Name, and HireDate from Employee.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051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D73E87-C7EA-B8CB-0B25-DA61FF4EF126}"/>
              </a:ext>
            </a:extLst>
          </p:cNvPr>
          <p:cNvSpPr txBox="1"/>
          <p:nvPr/>
        </p:nvSpPr>
        <p:spPr>
          <a:xfrm>
            <a:off x="631884" y="402905"/>
            <a:ext cx="112117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Specialization and Generalization</a:t>
            </a:r>
          </a:p>
          <a:p>
            <a:endParaRPr lang="en-US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Specialization</a:t>
            </a:r>
            <a:r>
              <a:rPr lang="en-US" sz="2400"/>
              <a:t> is a </a:t>
            </a:r>
            <a:r>
              <a:rPr lang="en-US" sz="2400" b="1"/>
              <a:t>top-down process</a:t>
            </a:r>
            <a:r>
              <a:rPr lang="en-US" sz="2400"/>
              <a:t> that divides a superclass into more specific subclasses based on distinguishing characteristics.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Generalization</a:t>
            </a:r>
            <a:r>
              <a:rPr lang="en-US" sz="2400"/>
              <a:t> is a </a:t>
            </a:r>
            <a:r>
              <a:rPr lang="en-US" sz="2400" b="1"/>
              <a:t>bottom-up process</a:t>
            </a:r>
            <a:r>
              <a:rPr lang="en-US" sz="2400"/>
              <a:t> that combines similar entity types into a more general superclass.</a:t>
            </a:r>
          </a:p>
          <a:p>
            <a:br>
              <a:rPr lang="en-US" sz="2400"/>
            </a:br>
            <a:r>
              <a:rPr lang="en-US" sz="2400" i="1"/>
              <a:t>Example: Employee → Novice + Experienced + Very Experienced is specialization;</a:t>
            </a:r>
          </a:p>
          <a:p>
            <a:r>
              <a:rPr lang="en-US" sz="2400" i="1"/>
              <a:t>                     Vehicle -&gt; Car + Truck</a:t>
            </a:r>
          </a:p>
          <a:p>
            <a:endParaRPr lang="en-US" sz="2400" i="1"/>
          </a:p>
          <a:p>
            <a:r>
              <a:rPr lang="en-US" sz="2400" i="1"/>
              <a:t>Novice + Experienced + Very Experienced -&gt; Vehicle is a generalization</a:t>
            </a:r>
          </a:p>
          <a:p>
            <a:r>
              <a:rPr lang="en-US" sz="2400" i="1"/>
              <a:t>Car + Truck → Vehicle is generalization.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5766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959487-BE4F-8119-1896-A89B5A179739}"/>
              </a:ext>
            </a:extLst>
          </p:cNvPr>
          <p:cNvSpPr txBox="1"/>
          <p:nvPr/>
        </p:nvSpPr>
        <p:spPr>
          <a:xfrm>
            <a:off x="528367" y="557705"/>
            <a:ext cx="107118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/>
              <a:t>Completeness — Total vs. Partial Specialization</a:t>
            </a:r>
          </a:p>
          <a:p>
            <a:pPr lvl="0"/>
            <a:br>
              <a:rPr lang="en-US" sz="2400"/>
            </a:br>
            <a:r>
              <a:rPr lang="en-US" sz="2400"/>
              <a:t>The </a:t>
            </a:r>
            <a:r>
              <a:rPr lang="en-US" sz="2400" b="1"/>
              <a:t>completeness constraint</a:t>
            </a:r>
            <a:r>
              <a:rPr lang="en-US" sz="2400"/>
              <a:t> determines whether every entity in the superclass must belong to a subclass.</a:t>
            </a:r>
          </a:p>
          <a:p>
            <a:pPr lvl="0"/>
            <a:endParaRPr lang="en-US" sz="24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Total specialization:</a:t>
            </a:r>
            <a:r>
              <a:rPr lang="en-US" sz="2400"/>
              <a:t> Every superclass entity </a:t>
            </a:r>
            <a:r>
              <a:rPr lang="en-US" sz="2400" b="1"/>
              <a:t>must belong to at least one subclass</a:t>
            </a:r>
            <a:r>
              <a:rPr lang="en-US" sz="2400"/>
              <a:t>. Specified by two lines.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/>
              <a:t>Partial specialization:</a:t>
            </a:r>
            <a:r>
              <a:rPr lang="en-US" sz="2400"/>
              <a:t> A superclass entity </a:t>
            </a:r>
            <a:r>
              <a:rPr lang="en-US" sz="2400" b="1"/>
              <a:t>may exist without belonging to any subclass</a:t>
            </a:r>
            <a:r>
              <a:rPr lang="en-US" sz="2400"/>
              <a:t>. Specified by a single line.</a:t>
            </a:r>
          </a:p>
          <a:p>
            <a:pPr lvl="0"/>
            <a:br>
              <a:rPr lang="en-US" sz="2400"/>
            </a:br>
            <a:r>
              <a:rPr lang="en-US" sz="2400" i="1"/>
              <a:t>Example: If every Employee must be either Novice, Experienced or Very Experienced, the specialization is Total.</a:t>
            </a:r>
            <a:r>
              <a:rPr lang="en-US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89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83FC0-8095-EE3D-C919-AD3FF3B0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97" y="837975"/>
            <a:ext cx="7674005" cy="5182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166F1F-B5AC-E884-8836-F345268679F0}"/>
              </a:ext>
            </a:extLst>
          </p:cNvPr>
          <p:cNvSpPr txBox="1"/>
          <p:nvPr/>
        </p:nvSpPr>
        <p:spPr>
          <a:xfrm>
            <a:off x="4365172" y="2449286"/>
            <a:ext cx="210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Specialization</a:t>
            </a:r>
          </a:p>
        </p:txBody>
      </p:sp>
    </p:spTree>
    <p:extLst>
      <p:ext uri="{BB962C8B-B14F-4D97-AF65-F5344CB8AC3E}">
        <p14:creationId xmlns:p14="http://schemas.microsoft.com/office/powerpoint/2010/main" val="347483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0E66AB-658A-FEFC-C62F-26CD337F5EDE}"/>
              </a:ext>
            </a:extLst>
          </p:cNvPr>
          <p:cNvSpPr txBox="1"/>
          <p:nvPr/>
        </p:nvSpPr>
        <p:spPr>
          <a:xfrm>
            <a:off x="666390" y="609940"/>
            <a:ext cx="105565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Disjointness — Disjoint vs. Overlapping Constraints</a:t>
            </a:r>
          </a:p>
          <a:p>
            <a:br>
              <a:rPr lang="en-US" sz="2400"/>
            </a:br>
            <a:r>
              <a:rPr lang="en-US" sz="2400"/>
              <a:t>The </a:t>
            </a:r>
            <a:r>
              <a:rPr lang="en-US" sz="2400" b="1"/>
              <a:t>disjointness constraint</a:t>
            </a:r>
            <a:r>
              <a:rPr lang="en-US" sz="2400"/>
              <a:t> determines whether a superclass entity may belong to more than one subclass.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Disjoint:</a:t>
            </a:r>
            <a:r>
              <a:rPr lang="en-US" sz="2400"/>
              <a:t> An entity can belong to only </a:t>
            </a:r>
            <a:r>
              <a:rPr lang="en-US" sz="2400" b="1"/>
              <a:t>one</a:t>
            </a:r>
            <a:r>
              <a:rPr lang="en-US" sz="2400"/>
              <a:t> subclass. Specified by the letter ‘D’.</a:t>
            </a:r>
            <a:br>
              <a:rPr lang="en-US" sz="2400"/>
            </a:br>
            <a:r>
              <a:rPr lang="en-US" sz="2400" i="1"/>
              <a:t>Example: An Employee cannot be both Full-Time and Part-Time = Disjoint.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/>
              <a:t>Overlapping:</a:t>
            </a:r>
            <a:r>
              <a:rPr lang="en-US" sz="2400"/>
              <a:t> An entity can belong to </a:t>
            </a:r>
            <a:r>
              <a:rPr lang="en-US" sz="2400" b="1"/>
              <a:t>more than one</a:t>
            </a:r>
            <a:r>
              <a:rPr lang="en-US" sz="2400"/>
              <a:t> subclass at the same time. Specified by the letter ‘O’.</a:t>
            </a:r>
            <a:br>
              <a:rPr lang="en-US" sz="2400"/>
            </a:br>
            <a:r>
              <a:rPr lang="en-US" sz="2400" i="1"/>
              <a:t>An University Personnel can be both Faculty and Staff.  = Overlapping.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/>
          </a:p>
        </p:txBody>
      </p:sp>
    </p:spTree>
    <p:extLst>
      <p:ext uri="{BB962C8B-B14F-4D97-AF65-F5344CB8AC3E}">
        <p14:creationId xmlns:p14="http://schemas.microsoft.com/office/powerpoint/2010/main" val="94708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62C86-9AE8-F38E-A872-640F7D2C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90" y="868458"/>
            <a:ext cx="7742591" cy="5121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F47C3F-D39E-4015-16BD-AFEFC3F8593A}"/>
              </a:ext>
            </a:extLst>
          </p:cNvPr>
          <p:cNvSpPr txBox="1"/>
          <p:nvPr/>
        </p:nvSpPr>
        <p:spPr>
          <a:xfrm>
            <a:off x="4332513" y="2634342"/>
            <a:ext cx="1896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Disjoint and Total</a:t>
            </a:r>
          </a:p>
        </p:txBody>
      </p:sp>
    </p:spTree>
    <p:extLst>
      <p:ext uri="{BB962C8B-B14F-4D97-AF65-F5344CB8AC3E}">
        <p14:creationId xmlns:p14="http://schemas.microsoft.com/office/powerpoint/2010/main" val="4136381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453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Enhanced Entity Relationship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Reyes</dc:creator>
  <cp:lastModifiedBy>Joannes Reyes</cp:lastModifiedBy>
  <cp:revision>9</cp:revision>
  <dcterms:created xsi:type="dcterms:W3CDTF">2026-09-06T04:37:28Z</dcterms:created>
  <dcterms:modified xsi:type="dcterms:W3CDTF">2026-09-10T04:23:23Z</dcterms:modified>
</cp:coreProperties>
</file>