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67" r:id="rId3"/>
    <p:sldId id="257" r:id="rId4"/>
    <p:sldId id="280" r:id="rId5"/>
    <p:sldId id="265" r:id="rId6"/>
    <p:sldId id="286" r:id="rId7"/>
    <p:sldId id="266" r:id="rId8"/>
    <p:sldId id="258" r:id="rId9"/>
    <p:sldId id="268" r:id="rId10"/>
    <p:sldId id="259" r:id="rId11"/>
    <p:sldId id="269" r:id="rId12"/>
    <p:sldId id="278" r:id="rId13"/>
    <p:sldId id="277" r:id="rId14"/>
    <p:sldId id="279" r:id="rId15"/>
    <p:sldId id="260" r:id="rId16"/>
    <p:sldId id="281" r:id="rId17"/>
    <p:sldId id="282" r:id="rId18"/>
    <p:sldId id="285" r:id="rId19"/>
    <p:sldId id="283" r:id="rId20"/>
    <p:sldId id="287" r:id="rId21"/>
    <p:sldId id="272" r:id="rId22"/>
    <p:sldId id="261" r:id="rId23"/>
    <p:sldId id="273" r:id="rId24"/>
    <p:sldId id="274" r:id="rId25"/>
    <p:sldId id="275" r:id="rId26"/>
    <p:sldId id="262" r:id="rId27"/>
    <p:sldId id="276" r:id="rId28"/>
    <p:sldId id="288" r:id="rId29"/>
    <p:sldId id="26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54DB9-96F5-42D6-AD93-C89BF1BF7F47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4295B-8604-4399-9595-744F3EA3F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60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4295B-8604-4399-9595-744F3EA3FD8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10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F26A-8AFB-38BB-7C05-5D7EE7637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282B6-68F6-C422-AA93-42ECD570E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CCE6A-9A27-46E8-FE68-B7BAB4EC8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6CF3A-1A08-EEF7-AB52-572B2D308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1EAEA-E36B-AB10-AA57-1209B8EAC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69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F319-66C7-4E25-60AA-392C1D1C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DB6EF-3686-CB64-120C-BCB83B430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C23D2-6DDF-FE24-18DE-34ECDED45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6F33D-A75B-311F-75C7-D3D93A93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DEA19-A075-1020-C040-14F1C579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8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787C-1C65-AC14-30E7-E165FA96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6AA02-F858-A1B5-7DCC-F507E2B2A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BC139-4569-BE68-B0E5-0D0EEBBD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541F9-30B9-DAAC-169C-65F5211E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61A70-B952-4B55-F67C-DE0C727A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7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E4A8-4E67-9B87-5A9B-8B96BAAD0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29C65-060F-6B9B-C1EC-22AA5FB51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01DCA-494A-6C8D-50AE-7D6063648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A4AD0-6674-0B71-5A97-71BA0F81A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32C56-08B9-58AF-18B9-71F6FC5C3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4AB80-6990-5124-3A24-04E054AC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690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83317-4341-1F64-9AB7-9B8DF6F96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BFC19-3265-4E92-7B85-FA6B283CC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F368F-4DB6-3817-510D-9B6E1C70B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1604C-F9B9-9317-FBFB-355D08F7CC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394FE8-EC08-3BC2-1C9D-790D8D9FCD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9F8E96-32A6-EEEE-976F-179382A00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BDC2DB-042E-2355-DAF0-B976FB17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FD6938-9461-E409-0349-08E5FFE8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69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5224-4551-7ED8-1D40-A4D1DE8B9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3C4B2-0C17-FFDB-AC7F-D4FC6C07A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10441-9CB3-8BE7-CECC-422731DBE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1D6705-C493-7DC5-ADE6-9618C5DE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54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86FB6-0E2F-AC65-2B73-27164633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690800-49F0-EECF-CE81-3D8D70DD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33D0E-4470-7E7E-F4D9-C6581100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72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734B-66C9-9061-93C5-52722A8A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0E503-B75C-BCCC-2DCB-39B8D062F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44AE1-EB6C-A144-9F24-49C86ECEF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F425C-AF38-13C8-C439-9D301777A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3E18E-BB06-C028-8473-CB2F3EE7D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CA1AD-8008-A474-8C97-3A481A77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86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D285-A34C-59AF-390F-EECAA227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6EC25-CCD1-52F5-A94D-50AC732DC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DC9423-975E-591E-F509-F44583226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B37FA-067B-4CA2-B1E1-B3F80628E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4DB8F-25A6-A98D-78FB-7B0BC17D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85B86-4CBD-B8A5-0486-5CD39D27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9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C9D88-91CC-70FD-7F4E-E45C42BA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290B7-5999-CBA8-293F-4EC11DDB9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5977D-04E5-6B3E-676B-694FCBDBE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373F3-E8B3-27C0-A586-877823D9B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4DAE2-E6F9-0FA2-6724-B0E25C37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5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F80784-4BE5-D31F-4B69-1FF28F63A1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CAA45-C9B8-6B99-2A0C-24EC514DD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0A76B-8FDC-A250-7F90-F53644737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B2230-53BB-57A3-BCBF-CBB32B274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0B7EC-2167-B44D-BF4D-72058B08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6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3CEB60-1C95-574E-1347-90BC2393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2DCFA-9148-B93D-EBF8-63A5DC954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95689-2956-01EF-5BDA-0005654CE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9B7DE-533C-4D96-8EEF-A12A944B566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F03E5-3DF0-2001-E57E-F06EDF21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05A53-FEA0-5CCB-7960-19597C45A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6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co/lucidchar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C523-8D5E-4FAE-FEB4-64442139F8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Entity Relationship Data Model</a:t>
            </a:r>
          </a:p>
        </p:txBody>
      </p:sp>
    </p:spTree>
    <p:extLst>
      <p:ext uri="{BB962C8B-B14F-4D97-AF65-F5344CB8AC3E}">
        <p14:creationId xmlns:p14="http://schemas.microsoft.com/office/powerpoint/2010/main" val="4274139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22B1FB-5060-27F9-6BB0-BBFF84C01F77}"/>
              </a:ext>
            </a:extLst>
          </p:cNvPr>
          <p:cNvSpPr txBox="1"/>
          <p:nvPr/>
        </p:nvSpPr>
        <p:spPr>
          <a:xfrm>
            <a:off x="904240" y="395238"/>
            <a:ext cx="106578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Entity-Relationship Data Model</a:t>
            </a:r>
          </a:p>
          <a:p>
            <a:pPr>
              <a:buNone/>
            </a:pPr>
            <a:endParaRPr lang="en-US" sz="2400" b="1"/>
          </a:p>
          <a:p>
            <a:pPr>
              <a:buNone/>
            </a:pPr>
            <a:r>
              <a:rPr lang="en-US" sz="2400"/>
              <a:t>The </a:t>
            </a:r>
            <a:r>
              <a:rPr lang="en-US" sz="2400" b="1"/>
              <a:t>Entity-Relationship (ER) Data Model</a:t>
            </a:r>
            <a:r>
              <a:rPr lang="en-US" sz="2400"/>
              <a:t> is a </a:t>
            </a:r>
            <a:r>
              <a:rPr lang="en-US" sz="2400" b="1"/>
              <a:t>conceptual data model</a:t>
            </a:r>
            <a:r>
              <a:rPr lang="en-US" sz="2400"/>
              <a:t> used to describe the data that an organization needs to store and the relationships among that data. It is commonly used during the </a:t>
            </a:r>
            <a:r>
              <a:rPr lang="en-US" sz="2400" b="1"/>
              <a:t>database design process</a:t>
            </a:r>
            <a:r>
              <a:rPr lang="en-US" sz="2400"/>
              <a:t>, before the data is converted into relational tables.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An </a:t>
            </a:r>
            <a:r>
              <a:rPr lang="en-US" sz="2400" b="1"/>
              <a:t>Entity-Relationship Diagram (ERD)</a:t>
            </a:r>
            <a:r>
              <a:rPr lang="en-US" sz="2400"/>
              <a:t> is the </a:t>
            </a:r>
            <a:r>
              <a:rPr lang="en-US" sz="2400" b="1"/>
              <a:t>graphical representation of an Entity-Relationship Data Model</a:t>
            </a:r>
            <a:r>
              <a:rPr lang="en-US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749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1BFCBA-DB43-3819-8EC5-9425D5D36311}"/>
              </a:ext>
            </a:extLst>
          </p:cNvPr>
          <p:cNvGraphicFramePr>
            <a:graphicFrameLocks noGrp="1"/>
          </p:cNvGraphicFramePr>
          <p:nvPr/>
        </p:nvGraphicFramePr>
        <p:xfrm>
          <a:off x="883459" y="1809098"/>
          <a:ext cx="10425081" cy="4384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5027">
                  <a:extLst>
                    <a:ext uri="{9D8B030D-6E8A-4147-A177-3AD203B41FA5}">
                      <a16:colId xmlns:a16="http://schemas.microsoft.com/office/drawing/2014/main" val="2971346978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1543637473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193624218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Component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Purpose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Chen notation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494818988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Entity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 person, place, object, event, or concept about which data is stored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Rectangle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797530859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Attribute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 property or characteristic of an entity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Oval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586410923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Relationship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Describes how entities are associated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Diamond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828093414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Cardinality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Specifies the maximum number of entity instances that can participate in a relationship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1:1, 1:N, M:N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416223029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Participation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Specifies whether an entity's participation in a relationship is optional or mandatory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Single line = partial; double line = total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50303151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14ECF84-EF99-B1CE-56F5-7BD24A05F3C2}"/>
              </a:ext>
            </a:extLst>
          </p:cNvPr>
          <p:cNvSpPr txBox="1"/>
          <p:nvPr/>
        </p:nvSpPr>
        <p:spPr>
          <a:xfrm>
            <a:off x="883459" y="79421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The five main components of an ERD</a:t>
            </a:r>
            <a:r>
              <a:rPr lang="en-US" sz="240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6036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1D953A-65B3-C3E7-BC72-3FBDDEE0F889}"/>
              </a:ext>
            </a:extLst>
          </p:cNvPr>
          <p:cNvSpPr txBox="1"/>
          <p:nvPr/>
        </p:nvSpPr>
        <p:spPr>
          <a:xfrm>
            <a:off x="1389184" y="855784"/>
            <a:ext cx="9413631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There are also variations within these components</a:t>
            </a:r>
          </a:p>
          <a:p>
            <a:r>
              <a:rPr lang="en-US" sz="2000"/>
              <a:t>For </a:t>
            </a:r>
            <a:r>
              <a:rPr lang="en-US" sz="2000" b="1"/>
              <a:t>entities</a:t>
            </a:r>
            <a:r>
              <a:rPr lang="en-US" sz="2000"/>
              <a:t>, you can have:</a:t>
            </a:r>
          </a:p>
          <a:p>
            <a:pPr lvl="1"/>
            <a:r>
              <a:rPr lang="en-US" sz="2000"/>
              <a:t>Strong entity </a:t>
            </a:r>
          </a:p>
          <a:p>
            <a:pPr lvl="1"/>
            <a:r>
              <a:rPr lang="en-US" sz="2000"/>
              <a:t>Weak entity </a:t>
            </a:r>
          </a:p>
          <a:p>
            <a:r>
              <a:rPr lang="en-US" sz="2000"/>
              <a:t>For </a:t>
            </a:r>
            <a:r>
              <a:rPr lang="en-US" sz="2000" b="1"/>
              <a:t>attributes</a:t>
            </a:r>
            <a:r>
              <a:rPr lang="en-US" sz="2000"/>
              <a:t>, you can have:</a:t>
            </a:r>
          </a:p>
          <a:p>
            <a:pPr lvl="1"/>
            <a:r>
              <a:rPr lang="en-US" sz="2000"/>
              <a:t>Simple attribute </a:t>
            </a:r>
          </a:p>
          <a:p>
            <a:pPr lvl="1"/>
            <a:r>
              <a:rPr lang="en-US" sz="2000"/>
              <a:t>Composite attribute </a:t>
            </a:r>
          </a:p>
          <a:p>
            <a:pPr lvl="1"/>
            <a:r>
              <a:rPr lang="en-US" sz="2000"/>
              <a:t>Key attribute </a:t>
            </a:r>
          </a:p>
          <a:p>
            <a:pPr lvl="1"/>
            <a:r>
              <a:rPr lang="en-US" sz="2000"/>
              <a:t>Multivalued attribute </a:t>
            </a:r>
          </a:p>
          <a:p>
            <a:pPr lvl="1"/>
            <a:r>
              <a:rPr lang="en-US" sz="2000"/>
              <a:t>Derived attribute </a:t>
            </a:r>
          </a:p>
          <a:p>
            <a:pPr lvl="1"/>
            <a:r>
              <a:rPr lang="en-US" sz="2000"/>
              <a:t>Partial key (for weak entities) </a:t>
            </a:r>
          </a:p>
          <a:p>
            <a:r>
              <a:rPr lang="en-US" sz="2000"/>
              <a:t>For </a:t>
            </a:r>
            <a:r>
              <a:rPr lang="en-US" sz="2000" b="1"/>
              <a:t>relationships</a:t>
            </a:r>
            <a:r>
              <a:rPr lang="en-US" sz="2000"/>
              <a:t>, you can have:</a:t>
            </a:r>
          </a:p>
          <a:p>
            <a:pPr lvl="1"/>
            <a:r>
              <a:rPr lang="en-US" sz="2000"/>
              <a:t>Unary (recursive) </a:t>
            </a:r>
          </a:p>
          <a:p>
            <a:pPr lvl="1"/>
            <a:r>
              <a:rPr lang="en-US" sz="2000"/>
              <a:t>Binary </a:t>
            </a:r>
          </a:p>
          <a:p>
            <a:pPr lvl="1"/>
            <a:r>
              <a:rPr lang="en-US" sz="2000"/>
              <a:t>Ternary </a:t>
            </a:r>
          </a:p>
          <a:p>
            <a:pPr lvl="1"/>
            <a:r>
              <a:rPr lang="en-US" sz="2000"/>
              <a:t>Identifying relationship (for weak entities)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32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CF520F-6815-D63E-3CB2-1D8908122D6E}"/>
              </a:ext>
            </a:extLst>
          </p:cNvPr>
          <p:cNvGraphicFramePr>
            <a:graphicFrameLocks noGrp="1"/>
          </p:cNvGraphicFramePr>
          <p:nvPr/>
        </p:nvGraphicFramePr>
        <p:xfrm>
          <a:off x="1462630" y="1808834"/>
          <a:ext cx="9266739" cy="4384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88913">
                  <a:extLst>
                    <a:ext uri="{9D8B030D-6E8A-4147-A177-3AD203B41FA5}">
                      <a16:colId xmlns:a16="http://schemas.microsoft.com/office/drawing/2014/main" val="3328152733"/>
                    </a:ext>
                  </a:extLst>
                </a:gridCol>
                <a:gridCol w="3088913">
                  <a:extLst>
                    <a:ext uri="{9D8B030D-6E8A-4147-A177-3AD203B41FA5}">
                      <a16:colId xmlns:a16="http://schemas.microsoft.com/office/drawing/2014/main" val="2598806872"/>
                    </a:ext>
                  </a:extLst>
                </a:gridCol>
                <a:gridCol w="3088913">
                  <a:extLst>
                    <a:ext uri="{9D8B030D-6E8A-4147-A177-3AD203B41FA5}">
                      <a16:colId xmlns:a16="http://schemas.microsoft.com/office/drawing/2014/main" val="2407485931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ERD Notation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Main Characteristics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Common Use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08226821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Chen Notation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Rectangles for entities, ovals for attributes, diamonds for relationships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Teaching and conceptual database design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49834253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Crow's Foot Notation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Entities shown as table-like boxes; relationship lines use "crow's feet" to indicate many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Very common in practical database design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939790058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UML Class Diagram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Classes/entities shown as boxes with attributes; multiplicities such as 1, 0..*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Software engineering and object-oriented design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956704932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IDEF1X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Detailed notation emphasizing primary keys, foreign keys, and identifying relationships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Enterprise and technical database modeling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697980167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Barker Notation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Similar to Crow's Foot; uses lines and symbols for optionality and cardinality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Historically associated with Oracle modeling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6588203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E46E88B-32AF-0621-CD6E-F9A664CEE87F}"/>
              </a:ext>
            </a:extLst>
          </p:cNvPr>
          <p:cNvSpPr txBox="1"/>
          <p:nvPr/>
        </p:nvSpPr>
        <p:spPr>
          <a:xfrm>
            <a:off x="999362" y="540421"/>
            <a:ext cx="103830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/>
              <a:t>Different </a:t>
            </a:r>
            <a:r>
              <a:rPr lang="en-US" sz="2400" b="1"/>
              <a:t>notations/styles used to draw Entity-Relationship Diagrams</a:t>
            </a:r>
            <a:r>
              <a:rPr lang="en-US" sz="2400"/>
              <a:t>, the most common are:</a:t>
            </a:r>
          </a:p>
        </p:txBody>
      </p:sp>
    </p:spTree>
    <p:extLst>
      <p:ext uri="{BB962C8B-B14F-4D97-AF65-F5344CB8AC3E}">
        <p14:creationId xmlns:p14="http://schemas.microsoft.com/office/powerpoint/2010/main" val="2943398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B5625B-F93C-5142-42B3-BC00EE316A66}"/>
              </a:ext>
            </a:extLst>
          </p:cNvPr>
          <p:cNvSpPr txBox="1"/>
          <p:nvPr/>
        </p:nvSpPr>
        <p:spPr>
          <a:xfrm>
            <a:off x="984738" y="751344"/>
            <a:ext cx="9753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Chen and Crow's Foot notation can both represent the fundamental structure of an ER model, but they emphasize different aspects of database design. </a:t>
            </a:r>
          </a:p>
          <a:p>
            <a:endParaRPr lang="en-US" sz="2400"/>
          </a:p>
          <a:p>
            <a:r>
              <a:rPr lang="en-US" sz="2400"/>
              <a:t>Chen notation is particularly suited to conceptual modeling, while Crow's Foot notation is commonly used for logical database modeling and shows cardinality and optionality very clearly.</a:t>
            </a:r>
          </a:p>
        </p:txBody>
      </p:sp>
    </p:spTree>
    <p:extLst>
      <p:ext uri="{BB962C8B-B14F-4D97-AF65-F5344CB8AC3E}">
        <p14:creationId xmlns:p14="http://schemas.microsoft.com/office/powerpoint/2010/main" val="779847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327424-863D-E8BF-F321-E8BA3095ED42}"/>
              </a:ext>
            </a:extLst>
          </p:cNvPr>
          <p:cNvSpPr txBox="1"/>
          <p:nvPr/>
        </p:nvSpPr>
        <p:spPr>
          <a:xfrm>
            <a:off x="1041712" y="1003989"/>
            <a:ext cx="6428959" cy="325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Chen Notation ERD (Entity-Relationship Diagram)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is a graphical method used to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design and represent the structure of a database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It was introduced by computer scientist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Peter Chen in 1976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Chen notation shows the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entities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in a database, their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attributes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and the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relationships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between those entities.</a:t>
            </a:r>
            <a:endParaRPr lang="en-US" sz="16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50A98B-6FCD-8AB9-11D1-27550A5CE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271" y="1588476"/>
            <a:ext cx="2939421" cy="283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4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3FF9B7-F126-A171-366A-E1580513AC4E}"/>
              </a:ext>
            </a:extLst>
          </p:cNvPr>
          <p:cNvSpPr txBox="1"/>
          <p:nvPr/>
        </p:nvSpPr>
        <p:spPr>
          <a:xfrm>
            <a:off x="852678" y="533460"/>
            <a:ext cx="105773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Entities</a:t>
            </a:r>
          </a:p>
          <a:p>
            <a:pPr>
              <a:buNone/>
            </a:pPr>
            <a:r>
              <a:rPr lang="en-US" sz="2400"/>
              <a:t>An </a:t>
            </a:r>
            <a:r>
              <a:rPr lang="en-US" sz="2400" b="1"/>
              <a:t>entity</a:t>
            </a:r>
            <a:r>
              <a:rPr lang="en-US" sz="2400"/>
              <a:t> represents a person, place, object, event, or concept about which the database needs to store information.</a:t>
            </a:r>
          </a:p>
          <a:p>
            <a:pPr>
              <a:buNone/>
            </a:pPr>
            <a:r>
              <a:rPr lang="en-US" sz="2400"/>
              <a:t>Examples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Employee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Department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Student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Course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Customer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Product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lvl="0"/>
            <a:r>
              <a:rPr lang="en-US" sz="2400"/>
              <a:t>In </a:t>
            </a:r>
            <a:r>
              <a:rPr lang="en-US" sz="2400" b="1"/>
              <a:t>Chen notation</a:t>
            </a:r>
            <a:r>
              <a:rPr lang="en-US" sz="2400"/>
              <a:t>, an entity is represented by a </a:t>
            </a:r>
            <a:r>
              <a:rPr lang="en-US" sz="2400" b="1"/>
              <a:t>rectangle</a:t>
            </a:r>
            <a:r>
              <a:rPr lang="en-US" sz="240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4B292-6639-ECBD-B9AD-C0A0E8EE5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593" y="5214263"/>
            <a:ext cx="2702119" cy="111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4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3FE616-3919-15C3-912C-420B9BA74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517" y="2826538"/>
            <a:ext cx="8326012" cy="27054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28E16A-EA4E-821B-AA21-42A407B4EF16}"/>
              </a:ext>
            </a:extLst>
          </p:cNvPr>
          <p:cNvSpPr txBox="1"/>
          <p:nvPr/>
        </p:nvSpPr>
        <p:spPr>
          <a:xfrm>
            <a:off x="1266091" y="633486"/>
            <a:ext cx="943839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Lucidchart (</a:t>
            </a:r>
            <a:r>
              <a:rPr lang="en-US" sz="2800">
                <a:hlinkClick r:id="rId3"/>
              </a:rPr>
              <a:t>https://lucid.co/lucidchart</a:t>
            </a:r>
            <a:r>
              <a:rPr lang="en-US" sz="2800"/>
              <a:t>, lucid.app)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Use UML Entity Relations Diagram Template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u="sng"/>
              <a:t>Activity</a:t>
            </a:r>
            <a:r>
              <a:rPr lang="en-US" sz="2800"/>
              <a:t>:Draw the two entites Employee and Department</a:t>
            </a:r>
          </a:p>
        </p:txBody>
      </p:sp>
    </p:spTree>
    <p:extLst>
      <p:ext uri="{BB962C8B-B14F-4D97-AF65-F5344CB8AC3E}">
        <p14:creationId xmlns:p14="http://schemas.microsoft.com/office/powerpoint/2010/main" val="74965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45329C-BBC4-08C0-3342-C350D7CFA3AF}"/>
              </a:ext>
            </a:extLst>
          </p:cNvPr>
          <p:cNvSpPr txBox="1"/>
          <p:nvPr/>
        </p:nvSpPr>
        <p:spPr>
          <a:xfrm>
            <a:off x="733806" y="547729"/>
            <a:ext cx="1097051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Attributes</a:t>
            </a:r>
          </a:p>
          <a:p>
            <a:pPr>
              <a:buNone/>
            </a:pPr>
            <a:r>
              <a:rPr lang="en-US" sz="2400"/>
              <a:t>An </a:t>
            </a:r>
            <a:r>
              <a:rPr lang="en-US" sz="2400" b="1"/>
              <a:t>attribute</a:t>
            </a:r>
            <a:r>
              <a:rPr lang="en-US" sz="2400"/>
              <a:t> describes a characteristic of an entity or a property of a relationship.</a:t>
            </a:r>
          </a:p>
          <a:p>
            <a:pPr>
              <a:buNone/>
            </a:pPr>
            <a:r>
              <a:rPr lang="en-US" sz="2400"/>
              <a:t>For example, the EMPLOYEE entity might have: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400">
                <a:latin typeface="+mn-lt"/>
              </a:rPr>
              <a:t>EmployeeID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400"/>
              <a:t>Name</a:t>
            </a:r>
            <a:endParaRPr lang="en-US" sz="2400">
              <a:latin typeface="+mn-lt"/>
            </a:endParaRP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400">
                <a:latin typeface="+mn-lt"/>
              </a:rPr>
              <a:t>Phone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400">
                <a:latin typeface="+mn-lt"/>
              </a:rPr>
              <a:t>Address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US" sz="2400">
              <a:latin typeface="+mn-lt"/>
            </a:endParaRPr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In Chen notation, attributes are represented by </a:t>
            </a:r>
            <a:r>
              <a:rPr lang="en-US" sz="2400" b="1"/>
              <a:t>ovals</a:t>
            </a:r>
            <a:r>
              <a:rPr lang="en-US" sz="2400"/>
              <a:t> connected to their entity.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Different types of attributes can also be represented, such as </a:t>
            </a:r>
            <a:r>
              <a:rPr lang="en-US" sz="2400" b="1"/>
              <a:t>key attributes</a:t>
            </a:r>
            <a:r>
              <a:rPr lang="en-US" sz="2400"/>
              <a:t>, </a:t>
            </a:r>
            <a:r>
              <a:rPr lang="en-US" sz="2400" b="1"/>
              <a:t>composite attributes</a:t>
            </a:r>
            <a:r>
              <a:rPr lang="en-US" sz="2400"/>
              <a:t>, </a:t>
            </a:r>
            <a:r>
              <a:rPr lang="en-US" sz="2400" b="1"/>
              <a:t>multivalued attributes</a:t>
            </a:r>
            <a:r>
              <a:rPr lang="en-US" sz="2400"/>
              <a:t>, and </a:t>
            </a:r>
            <a:r>
              <a:rPr lang="en-US" sz="2400" b="1"/>
              <a:t>derived attributes</a:t>
            </a:r>
            <a:r>
              <a:rPr lang="en-US" sz="240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664FAD-84B9-EADF-F75C-03C1C8FFB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892" y="1948624"/>
            <a:ext cx="6142409" cy="233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3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4A556A-5572-7115-508F-B5D5966720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86" r="19605" b="50000"/>
          <a:stretch>
            <a:fillRect/>
          </a:stretch>
        </p:blipFill>
        <p:spPr>
          <a:xfrm>
            <a:off x="2727959" y="1458928"/>
            <a:ext cx="6593841" cy="2152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7E9673-3532-6BDA-8BE0-8726E6BFCAE1}"/>
              </a:ext>
            </a:extLst>
          </p:cNvPr>
          <p:cNvSpPr txBox="1"/>
          <p:nvPr/>
        </p:nvSpPr>
        <p:spPr>
          <a:xfrm>
            <a:off x="2297723" y="785446"/>
            <a:ext cx="7943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/>
              <a:t>Activity</a:t>
            </a:r>
            <a:r>
              <a:rPr lang="en-US"/>
              <a:t>: Draw the Appropriate Attributes for Employee and Department Entites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9CEBC-E6EF-BEB8-3894-56979D0A3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61" y="1458928"/>
            <a:ext cx="11231542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31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78DFF9-32FA-6F43-1183-ADEBD1C619C1}"/>
              </a:ext>
            </a:extLst>
          </p:cNvPr>
          <p:cNvSpPr txBox="1"/>
          <p:nvPr/>
        </p:nvSpPr>
        <p:spPr>
          <a:xfrm>
            <a:off x="2139449" y="706667"/>
            <a:ext cx="754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Activity</a:t>
            </a:r>
            <a:r>
              <a:rPr lang="en-US"/>
              <a:t>: Draw the correct attribute symbol.  The employee can have more than one phone record in the company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AA5484-5D85-2A6F-C19C-A18B0FB3C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377" y="1691997"/>
            <a:ext cx="6004583" cy="40793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52318D-D6A7-A903-186C-47DE6C851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003" y="1478637"/>
            <a:ext cx="6496957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2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83B1BC-B61A-474A-5849-B3292B9547D9}"/>
              </a:ext>
            </a:extLst>
          </p:cNvPr>
          <p:cNvSpPr txBox="1"/>
          <p:nvPr/>
        </p:nvSpPr>
        <p:spPr>
          <a:xfrm>
            <a:off x="1758461" y="282993"/>
            <a:ext cx="80420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Activity</a:t>
            </a:r>
            <a:r>
              <a:rPr lang="en-US"/>
              <a:t>: </a:t>
            </a:r>
            <a:br>
              <a:rPr lang="en-US"/>
            </a:br>
            <a:r>
              <a:rPr lang="en-US"/>
              <a:t>1. The company wants the ability to sort the employees based on their last names and first names.</a:t>
            </a:r>
          </a:p>
          <a:p>
            <a:r>
              <a:rPr lang="en-US"/>
              <a:t>2. The company wants to be able to determine which city each employee resides.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85F85-AFE2-CE0C-80A6-6AF281970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736" y="2141076"/>
            <a:ext cx="4237087" cy="33073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C8C6FE-DF69-A4F7-F296-C05FAEEF7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461" y="2018437"/>
            <a:ext cx="7389111" cy="483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6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41118-7A7B-9CA8-11A1-7FA70D7FC755}"/>
              </a:ext>
            </a:extLst>
          </p:cNvPr>
          <p:cNvSpPr txBox="1"/>
          <p:nvPr/>
        </p:nvSpPr>
        <p:spPr>
          <a:xfrm>
            <a:off x="2098431" y="797169"/>
            <a:ext cx="781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/>
              <a:t>Activity</a:t>
            </a:r>
            <a:r>
              <a:rPr lang="en-US"/>
              <a:t>: Now, what if the company needs to know the age of each employee?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0F588E-4933-07D1-F601-B2B30DB48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956" y="1633069"/>
            <a:ext cx="6699484" cy="43522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62FAD5-0420-A08F-1BC2-890650E32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301" y="1633069"/>
            <a:ext cx="7492794" cy="474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2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01DAAE-2B06-7F4E-EEEA-2186790321CA}"/>
              </a:ext>
            </a:extLst>
          </p:cNvPr>
          <p:cNvSpPr txBox="1"/>
          <p:nvPr/>
        </p:nvSpPr>
        <p:spPr>
          <a:xfrm>
            <a:off x="752094" y="622452"/>
            <a:ext cx="1025728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Relationships</a:t>
            </a:r>
          </a:p>
          <a:p>
            <a:pPr>
              <a:buNone/>
            </a:pPr>
            <a:r>
              <a:rPr lang="en-US" sz="2400"/>
              <a:t>A </a:t>
            </a:r>
            <a:r>
              <a:rPr lang="en-US" sz="2400" b="1"/>
              <a:t>relationship</a:t>
            </a:r>
            <a:r>
              <a:rPr lang="en-US" sz="2400"/>
              <a:t> describes an association between entities.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For example:</a:t>
            </a:r>
          </a:p>
          <a:p>
            <a:pPr>
              <a:buNone/>
            </a:pPr>
            <a:r>
              <a:rPr lang="en-US" sz="2400"/>
              <a:t>An EMPLOYEE </a:t>
            </a:r>
            <a:r>
              <a:rPr lang="en-US" sz="2400" b="1"/>
              <a:t>WORKS_FOR</a:t>
            </a:r>
            <a:r>
              <a:rPr lang="en-US" sz="2400"/>
              <a:t> a DEPARTMENT.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In Chen notation, the relationship is represented by a </a:t>
            </a:r>
            <a:r>
              <a:rPr lang="en-US" sz="2400" b="1"/>
              <a:t>diamond</a:t>
            </a:r>
            <a:r>
              <a:rPr lang="en-US" sz="240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C14A80-2DAC-08EF-C9E4-74333DBF2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388" y="3829001"/>
            <a:ext cx="3336619" cy="160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6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7F6711-6F14-520E-516D-9EBC9405A4D4}"/>
              </a:ext>
            </a:extLst>
          </p:cNvPr>
          <p:cNvSpPr txBox="1"/>
          <p:nvPr/>
        </p:nvSpPr>
        <p:spPr>
          <a:xfrm>
            <a:off x="1617785" y="81464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For </a:t>
            </a:r>
            <a:r>
              <a:rPr lang="en-US" b="1"/>
              <a:t>relationships</a:t>
            </a:r>
            <a:r>
              <a:rPr lang="en-US"/>
              <a:t>, you can have: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Unary (recursive)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Binary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Ternary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Identifying relationship (for weak entities)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139B3-5024-1094-CF92-A65B9225B101}"/>
              </a:ext>
            </a:extLst>
          </p:cNvPr>
          <p:cNvSpPr txBox="1"/>
          <p:nvPr/>
        </p:nvSpPr>
        <p:spPr>
          <a:xfrm>
            <a:off x="1617784" y="2792831"/>
            <a:ext cx="985910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Types of Relationships: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Unary (recursive)</a:t>
            </a:r>
            <a:r>
              <a:rPr lang="en-US"/>
              <a:t> — involves </a:t>
            </a:r>
            <a:r>
              <a:rPr lang="en-US" b="1"/>
              <a:t>one entity type</a:t>
            </a:r>
            <a:r>
              <a:rPr lang="en-US"/>
              <a:t>. Example: </a:t>
            </a:r>
            <a:r>
              <a:rPr lang="en-US">
                <a:latin typeface="+mn-lt"/>
              </a:rPr>
              <a:t>EMPLOYEE — Supervises — EMPLOYEE</a:t>
            </a:r>
            <a:r>
              <a:rPr lang="en-US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Binary</a:t>
            </a:r>
            <a:r>
              <a:rPr lang="en-US"/>
              <a:t> — involves </a:t>
            </a:r>
            <a:r>
              <a:rPr lang="en-US" b="1"/>
              <a:t>two entity types</a:t>
            </a:r>
            <a:r>
              <a:rPr lang="en-US"/>
              <a:t>. Example: </a:t>
            </a:r>
            <a:r>
              <a:rPr lang="en-US">
                <a:latin typeface="+mn-lt"/>
              </a:rPr>
              <a:t>EMPLOYEE — WorksFor — DEPARTMENT</a:t>
            </a:r>
            <a:r>
              <a:rPr lang="en-US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Ternary</a:t>
            </a:r>
            <a:r>
              <a:rPr lang="en-US"/>
              <a:t> — involves </a:t>
            </a:r>
            <a:r>
              <a:rPr lang="en-US" b="1"/>
              <a:t>three entity types simultaneously</a:t>
            </a:r>
            <a:r>
              <a:rPr lang="en-US"/>
              <a:t>. Example: </a:t>
            </a:r>
            <a:r>
              <a:rPr lang="en-US">
                <a:latin typeface="+mn-lt"/>
              </a:rPr>
              <a:t>SUPPLIER — Supplies — PART — PROJECT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N-ary</a:t>
            </a:r>
            <a:r>
              <a:rPr lang="en-US"/>
              <a:t> – involves more than three entity types simultaneously.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In terms of </a:t>
            </a:r>
            <a:r>
              <a:rPr lang="en-US" b="1"/>
              <a:t>relationship degree</a:t>
            </a:r>
            <a:r>
              <a:rPr lang="en-US"/>
              <a:t>, the </a:t>
            </a:r>
            <a:r>
              <a:rPr lang="en-US" b="1"/>
              <a:t>binary relationship is by far the most common</a:t>
            </a:r>
            <a:r>
              <a:rPr lang="en-US"/>
              <a:t> in ERDs.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29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3C48A9B-0613-17F7-B177-831D56E76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40" y="1772945"/>
            <a:ext cx="9621520" cy="4810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FADD34-0174-E2B0-D6D2-FA0D0046A050}"/>
              </a:ext>
            </a:extLst>
          </p:cNvPr>
          <p:cNvSpPr txBox="1"/>
          <p:nvPr/>
        </p:nvSpPr>
        <p:spPr>
          <a:xfrm>
            <a:off x="1207477" y="797169"/>
            <a:ext cx="102674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/>
              <a:t>Activity</a:t>
            </a:r>
            <a:r>
              <a:rPr lang="en-US" sz="2400"/>
              <a:t>: An employee can supervise many employees, and each employee is</a:t>
            </a:r>
            <a:br>
              <a:rPr lang="en-US" sz="2400"/>
            </a:br>
            <a:r>
              <a:rPr lang="en-US" sz="2400"/>
              <a:t>supervised by at most one employee.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10F256-DF86-426D-9DF0-491D4B40D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477" y="1876890"/>
            <a:ext cx="9413630" cy="470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2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9A2020-D70A-068D-C001-CD7032137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15" y="819156"/>
            <a:ext cx="10046678" cy="50262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D31791-E136-1F3D-4ED1-478FA316B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78" y="709247"/>
            <a:ext cx="10492152" cy="524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63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812F8C-D3C7-4FCF-8FA6-5CC275C329B1}"/>
              </a:ext>
            </a:extLst>
          </p:cNvPr>
          <p:cNvSpPr txBox="1"/>
          <p:nvPr/>
        </p:nvSpPr>
        <p:spPr>
          <a:xfrm>
            <a:off x="2468881" y="386080"/>
            <a:ext cx="695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Activity</a:t>
            </a:r>
            <a:r>
              <a:rPr lang="en-US"/>
              <a:t>: A supplier supplies a part to a project, and we keep track of the quantity supplied per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8B4F4-1D02-DC32-6B15-3B11789B1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895" y="1528974"/>
            <a:ext cx="4745145" cy="1712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A1472F-2A82-FF91-5612-62CEA783D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69" y="1528974"/>
            <a:ext cx="7933391" cy="39303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D3402E-F881-59F5-6A6C-6B32EFB03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69" y="1652845"/>
            <a:ext cx="11114050" cy="3930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474102-804A-2099-F730-C7C5698F1E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7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550005-74C0-A20D-8F43-86DE8B19FA96}"/>
              </a:ext>
            </a:extLst>
          </p:cNvPr>
          <p:cNvSpPr txBox="1"/>
          <p:nvPr/>
        </p:nvSpPr>
        <p:spPr>
          <a:xfrm>
            <a:off x="879231" y="335846"/>
            <a:ext cx="10515600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/>
              <a:t>Why Use a Ternary Relationship?</a:t>
            </a:r>
          </a:p>
          <a:p>
            <a:pPr>
              <a:buNone/>
            </a:pPr>
            <a:r>
              <a:rPr lang="en-US" sz="2000" b="1"/>
              <a:t>A ternary relationship involves three entity types that must be considered together to represent a complete fact.</a:t>
            </a:r>
          </a:p>
          <a:p>
            <a:pPr>
              <a:buNone/>
            </a:pPr>
            <a:endParaRPr lang="en-US" sz="2000"/>
          </a:p>
          <a:p>
            <a:pPr>
              <a:buNone/>
            </a:pPr>
            <a:r>
              <a:rPr lang="en-US" sz="2000" b="1"/>
              <a:t>Why not use separate binary relationships?</a:t>
            </a:r>
            <a:endParaRPr lang="en-US" sz="20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+mn-lt"/>
              </a:rPr>
              <a:t>Supplier — Part</a:t>
            </a:r>
            <a:r>
              <a:rPr lang="en-US" sz="2000"/>
              <a:t> tells us </a:t>
            </a:r>
            <a:r>
              <a:rPr lang="en-US" sz="2000" b="1"/>
              <a:t>what</a:t>
            </a:r>
            <a:r>
              <a:rPr lang="en-US" sz="2000"/>
              <a:t> the supplier supplies.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+mn-lt"/>
              </a:rPr>
              <a:t>Supplier — Project</a:t>
            </a:r>
            <a:r>
              <a:rPr lang="en-US" sz="2000"/>
              <a:t> tells us </a:t>
            </a:r>
            <a:r>
              <a:rPr lang="en-US" sz="2000" b="1"/>
              <a:t>which projects</a:t>
            </a:r>
            <a:r>
              <a:rPr lang="en-US" sz="2000"/>
              <a:t> the supplier serves.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+mn-lt"/>
              </a:rPr>
              <a:t>Part — Project</a:t>
            </a:r>
            <a:r>
              <a:rPr lang="en-US" sz="2000"/>
              <a:t> tells us </a:t>
            </a:r>
            <a:r>
              <a:rPr lang="en-US" sz="2000" b="1"/>
              <a:t>which parts</a:t>
            </a:r>
            <a:r>
              <a:rPr lang="en-US" sz="2000"/>
              <a:t> a project uses.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But these separate relationships </a:t>
            </a:r>
            <a:r>
              <a:rPr lang="en-US" sz="2000" b="1"/>
              <a:t>do not tell us which supplier supplies which specific part to which specific project.</a:t>
            </a:r>
            <a:r>
              <a:rPr lang="en-US" sz="200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>
              <a:buNone/>
            </a:pPr>
            <a:r>
              <a:rPr lang="en-US" sz="2000" b="1"/>
              <a:t>Use a ternary relationship when breaking it into binary relationships would lose the meaning of the three-way association.</a:t>
            </a:r>
          </a:p>
          <a:p>
            <a:pPr>
              <a:buNone/>
            </a:pPr>
            <a:endParaRPr lang="en-US" sz="2000" b="1"/>
          </a:p>
          <a:p>
            <a:r>
              <a:rPr lang="en-US" sz="2000"/>
              <a:t>A very useful test is:</a:t>
            </a:r>
          </a:p>
          <a:p>
            <a:r>
              <a:rPr lang="en-US" sz="2000" b="1"/>
              <a:t>If I break this into binary relationships, can I still determine exactly which A is associated with which B and which C?</a:t>
            </a:r>
            <a:endParaRPr lang="en-US" sz="2000"/>
          </a:p>
          <a:p>
            <a:pPr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3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081644-AB14-09FC-2A12-DDFABD1B2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76" y="1630448"/>
            <a:ext cx="9594084" cy="42884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B4503E-B7BE-6BF5-EC2E-6D76B74AC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76" y="1540701"/>
            <a:ext cx="9736436" cy="4467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B32BC7-D238-8701-984D-912214C075B0}"/>
              </a:ext>
            </a:extLst>
          </p:cNvPr>
          <p:cNvSpPr txBox="1"/>
          <p:nvPr/>
        </p:nvSpPr>
        <p:spPr>
          <a:xfrm>
            <a:off x="1804216" y="1055077"/>
            <a:ext cx="942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/>
              <a:t>Activity</a:t>
            </a:r>
            <a:r>
              <a:rPr lang="en-US"/>
              <a:t>: Draw the relations between Employee and Department using a WorksFor relationship</a:t>
            </a:r>
          </a:p>
        </p:txBody>
      </p:sp>
    </p:spTree>
    <p:extLst>
      <p:ext uri="{BB962C8B-B14F-4D97-AF65-F5344CB8AC3E}">
        <p14:creationId xmlns:p14="http://schemas.microsoft.com/office/powerpoint/2010/main" val="161942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0604A2-5984-71CA-61B4-359E10E9CBA7}"/>
              </a:ext>
            </a:extLst>
          </p:cNvPr>
          <p:cNvSpPr txBox="1"/>
          <p:nvPr/>
        </p:nvSpPr>
        <p:spPr>
          <a:xfrm>
            <a:off x="678942" y="402765"/>
            <a:ext cx="1045845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Cardinality</a:t>
            </a:r>
          </a:p>
          <a:p>
            <a:pPr>
              <a:buNone/>
            </a:pPr>
            <a:r>
              <a:rPr lang="en-US" sz="2400"/>
              <a:t>An ERD can also specify </a:t>
            </a:r>
            <a:r>
              <a:rPr lang="en-US" sz="2400" b="1"/>
              <a:t>cardinality</a:t>
            </a:r>
            <a:r>
              <a:rPr lang="en-US" sz="2400"/>
              <a:t>, which describes how many instances of one entity can be associated with instances of another entity.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For example:</a:t>
            </a:r>
          </a:p>
          <a:p>
            <a:pPr rtl="0">
              <a:buNone/>
            </a:pPr>
            <a:r>
              <a:rPr lang="en-US" sz="2400">
                <a:latin typeface="+mn-lt"/>
              </a:rPr>
              <a:t>EMPLOYEE ── N ── ◇ WORKS_FOR ◇ ── 1 ── DEPARTMENT</a:t>
            </a:r>
          </a:p>
          <a:p>
            <a:pPr>
              <a:buNone/>
            </a:pPr>
            <a:r>
              <a:rPr lang="en-US" sz="2400"/>
              <a:t>This represents a </a:t>
            </a:r>
            <a:r>
              <a:rPr lang="en-US" sz="2400" b="1"/>
              <a:t>many-to-one relationship</a:t>
            </a:r>
            <a:r>
              <a:rPr lang="en-US" sz="2400"/>
              <a:t>:</a:t>
            </a:r>
          </a:p>
          <a:p>
            <a:pPr>
              <a:buNone/>
            </a:pPr>
            <a:r>
              <a:rPr lang="en-US" sz="2400"/>
              <a:t>Many employees can work for one department.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Common cardinalities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/>
              <a:t>1:1</a:t>
            </a:r>
            <a:r>
              <a:rPr lang="en-US" sz="2400"/>
              <a:t> — One-to-One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/>
              <a:t>1:N</a:t>
            </a:r>
            <a:r>
              <a:rPr lang="en-US" sz="2400"/>
              <a:t> — One-to-Many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/>
              <a:t>M:N</a:t>
            </a:r>
            <a:r>
              <a:rPr lang="en-US" sz="2400"/>
              <a:t> — Many-to-Many</a:t>
            </a:r>
          </a:p>
        </p:txBody>
      </p:sp>
    </p:spTree>
    <p:extLst>
      <p:ext uri="{BB962C8B-B14F-4D97-AF65-F5344CB8AC3E}">
        <p14:creationId xmlns:p14="http://schemas.microsoft.com/office/powerpoint/2010/main" val="273719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024129-EA81-6A73-1429-9D43D288CE7C}"/>
              </a:ext>
            </a:extLst>
          </p:cNvPr>
          <p:cNvSpPr txBox="1"/>
          <p:nvPr/>
        </p:nvSpPr>
        <p:spPr>
          <a:xfrm>
            <a:off x="3143573" y="427649"/>
            <a:ext cx="5695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Activity</a:t>
            </a:r>
            <a:r>
              <a:rPr lang="en-US"/>
              <a:t>: Add the cardinality. An employee can work for at most one department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4904D3-902D-C655-3599-C6B9495E8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63" y="1295133"/>
            <a:ext cx="10745673" cy="49828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E5ADEF-45BE-A78A-A7C4-0A7324CBF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63" y="1485927"/>
            <a:ext cx="10745673" cy="494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6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AE6664-340C-1267-ECCA-3BFAFE19C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39" y="1120417"/>
            <a:ext cx="10739120" cy="4979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29254A-231E-BD51-9668-AA2D28C16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15" y="1215508"/>
            <a:ext cx="10855569" cy="50168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A6ADE8-5345-E1A1-82DA-17CDF2319F55}"/>
              </a:ext>
            </a:extLst>
          </p:cNvPr>
          <p:cNvSpPr txBox="1"/>
          <p:nvPr/>
        </p:nvSpPr>
        <p:spPr>
          <a:xfrm>
            <a:off x="3341076" y="625607"/>
            <a:ext cx="634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/>
              <a:t>Activity</a:t>
            </a:r>
            <a:r>
              <a:rPr lang="en-US"/>
              <a:t>: An employee can work for more than one department</a:t>
            </a:r>
          </a:p>
        </p:txBody>
      </p:sp>
    </p:spTree>
    <p:extLst>
      <p:ext uri="{BB962C8B-B14F-4D97-AF65-F5344CB8AC3E}">
        <p14:creationId xmlns:p14="http://schemas.microsoft.com/office/powerpoint/2010/main" val="351355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D12192-BF74-2D63-2D24-62C1684E4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88" y="1546689"/>
            <a:ext cx="10028936" cy="46504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362AA9-ACFE-1F2A-3D9A-211280705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15" y="1499922"/>
            <a:ext cx="10028936" cy="46048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ADD4BC-D38C-0930-4BA6-360A7001AEC8}"/>
              </a:ext>
            </a:extLst>
          </p:cNvPr>
          <p:cNvSpPr txBox="1"/>
          <p:nvPr/>
        </p:nvSpPr>
        <p:spPr>
          <a:xfrm>
            <a:off x="3474128" y="456950"/>
            <a:ext cx="61414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/>
              <a:t>Activity</a:t>
            </a:r>
            <a:r>
              <a:rPr lang="en-US"/>
              <a:t>: An employee can work for at most one department.</a:t>
            </a:r>
          </a:p>
          <a:p>
            <a:r>
              <a:rPr lang="en-US"/>
              <a:t>A department can have at most one employee.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BF4662-409E-C7FC-E15E-45F3AA5BA826}"/>
              </a:ext>
            </a:extLst>
          </p:cNvPr>
          <p:cNvSpPr txBox="1"/>
          <p:nvPr/>
        </p:nvSpPr>
        <p:spPr>
          <a:xfrm>
            <a:off x="4829908" y="5920154"/>
            <a:ext cx="5869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 can you say about this ERD, if it’s a 1-1 relationship?</a:t>
            </a:r>
          </a:p>
        </p:txBody>
      </p:sp>
    </p:spTree>
    <p:extLst>
      <p:ext uri="{BB962C8B-B14F-4D97-AF65-F5344CB8AC3E}">
        <p14:creationId xmlns:p14="http://schemas.microsoft.com/office/powerpoint/2010/main" val="66480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ACF04A-B16C-B224-EE68-213A00DFB8E2}"/>
              </a:ext>
            </a:extLst>
          </p:cNvPr>
          <p:cNvSpPr txBox="1"/>
          <p:nvPr/>
        </p:nvSpPr>
        <p:spPr>
          <a:xfrm>
            <a:off x="788670" y="627578"/>
            <a:ext cx="107236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Participation</a:t>
            </a:r>
          </a:p>
          <a:p>
            <a:pPr>
              <a:buNone/>
            </a:pPr>
            <a:r>
              <a:rPr lang="en-US" sz="2400"/>
              <a:t>ERDs can also indicate whether participation in a relationship is </a:t>
            </a:r>
            <a:r>
              <a:rPr lang="en-US" sz="2400" b="1"/>
              <a:t>required or optional</a:t>
            </a:r>
            <a:r>
              <a:rPr lang="en-US" sz="2400"/>
              <a:t>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In traditional Chen notation: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/>
              <a:t>Single line</a:t>
            </a:r>
            <a:r>
              <a:rPr lang="en-US" sz="2400"/>
              <a:t> → Partial participation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/>
              <a:t>Double line</a:t>
            </a:r>
            <a:r>
              <a:rPr lang="en-US" sz="2400"/>
              <a:t> → Total participation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7477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A840E7-9259-AB35-612C-E6971A16F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72" y="1218125"/>
            <a:ext cx="9868424" cy="44010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E6F736-C109-1514-4995-8CA51CA56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10" y="756194"/>
            <a:ext cx="10083410" cy="48629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EA7743-0F27-B44F-FB17-FEB9D1CE97D9}"/>
              </a:ext>
            </a:extLst>
          </p:cNvPr>
          <p:cNvSpPr txBox="1"/>
          <p:nvPr/>
        </p:nvSpPr>
        <p:spPr>
          <a:xfrm>
            <a:off x="3083169" y="230930"/>
            <a:ext cx="6785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/>
              <a:t>Activity</a:t>
            </a:r>
            <a:r>
              <a:rPr lang="en-US"/>
              <a:t>: </a:t>
            </a:r>
            <a:br>
              <a:rPr lang="en-US"/>
            </a:br>
            <a:r>
              <a:rPr lang="en-US"/>
              <a:t>Business Constraint: Every employee must belong to a department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86743-BC03-6C53-3E6F-5D57662C7D75}"/>
              </a:ext>
            </a:extLst>
          </p:cNvPr>
          <p:cNvSpPr txBox="1"/>
          <p:nvPr/>
        </p:nvSpPr>
        <p:spPr>
          <a:xfrm>
            <a:off x="907272" y="5732474"/>
            <a:ext cx="10377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If the business rules do not state that participation is mandatory, partial participation is often assumed.</a:t>
            </a:r>
          </a:p>
        </p:txBody>
      </p:sp>
    </p:spTree>
    <p:extLst>
      <p:ext uri="{BB962C8B-B14F-4D97-AF65-F5344CB8AC3E}">
        <p14:creationId xmlns:p14="http://schemas.microsoft.com/office/powerpoint/2010/main" val="413370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DD3E93-9246-554A-DEE7-B36741DE8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295400"/>
            <a:ext cx="9235440" cy="461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15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062AF3-C24E-58F3-54B1-474A7F5CA7A6}"/>
              </a:ext>
            </a:extLst>
          </p:cNvPr>
          <p:cNvSpPr txBox="1"/>
          <p:nvPr/>
        </p:nvSpPr>
        <p:spPr>
          <a:xfrm>
            <a:off x="704088" y="792581"/>
            <a:ext cx="110825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Why ERDs Are Important</a:t>
            </a:r>
          </a:p>
          <a:p>
            <a:pPr>
              <a:buNone/>
            </a:pPr>
            <a:endParaRPr lang="en-US" sz="2400" b="1"/>
          </a:p>
          <a:p>
            <a:pPr>
              <a:buNone/>
            </a:pPr>
            <a:r>
              <a:rPr lang="en-US" sz="2400"/>
              <a:t>An ERD allows a database designer to plan the structure of a database </a:t>
            </a:r>
            <a:r>
              <a:rPr lang="en-US" sz="2400" b="1"/>
              <a:t>before creating the actual tables</a:t>
            </a:r>
            <a:r>
              <a:rPr lang="en-US" sz="2400"/>
              <a:t>. It can help identify missing data, unnecessary duplication, incorrect relationships, and important business rules early in the design process.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Once the ERD has been completed, it can be converted into a </a:t>
            </a:r>
            <a:r>
              <a:rPr lang="en-US" sz="2400" b="1"/>
              <a:t>relational schema</a:t>
            </a:r>
            <a:r>
              <a:rPr lang="en-US" sz="2400"/>
              <a:t>, which can then be implemented as tables using SQL.</a:t>
            </a:r>
          </a:p>
        </p:txBody>
      </p:sp>
    </p:spTree>
    <p:extLst>
      <p:ext uri="{BB962C8B-B14F-4D97-AF65-F5344CB8AC3E}">
        <p14:creationId xmlns:p14="http://schemas.microsoft.com/office/powerpoint/2010/main" val="902960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3616</TotalTime>
  <Words>1270</Words>
  <Application>Microsoft Office PowerPoint</Application>
  <PresentationFormat>Widescreen</PresentationFormat>
  <Paragraphs>167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Office Theme</vt:lpstr>
      <vt:lpstr>Entity Relationship Data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Reyes</dc:creator>
  <cp:lastModifiedBy>Joannes Reyes</cp:lastModifiedBy>
  <cp:revision>37</cp:revision>
  <dcterms:created xsi:type="dcterms:W3CDTF">2026-09-02T14:44:41Z</dcterms:created>
  <dcterms:modified xsi:type="dcterms:W3CDTF">2026-09-10T04:35:22Z</dcterms:modified>
</cp:coreProperties>
</file>