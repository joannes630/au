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1" r:id="rId4"/>
    <p:sldId id="264" r:id="rId5"/>
    <p:sldId id="266" r:id="rId6"/>
    <p:sldId id="268" r:id="rId7"/>
    <p:sldId id="269" r:id="rId8"/>
    <p:sldId id="270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6BA10-C6DF-4966-AF91-6394B2EC37A0}" v="2" dt="2026-08-19T03:37:29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nes Reyes" userId="c20a8a02-b4fe-42f6-8098-28f80703c1a5" providerId="ADAL" clId="{CACF7B39-15D8-4AB0-B094-4E7549337A18}"/>
    <pc:docChg chg="undo custSel addSld delSld modSld sldOrd modMainMaster">
      <pc:chgData name="Joannes Reyes" userId="c20a8a02-b4fe-42f6-8098-28f80703c1a5" providerId="ADAL" clId="{CACF7B39-15D8-4AB0-B094-4E7549337A18}" dt="2026-08-19T03:37:29.759" v="1924"/>
      <pc:docMkLst>
        <pc:docMk/>
      </pc:docMkLst>
      <pc:sldChg chg="modAnim">
        <pc:chgData name="Joannes Reyes" userId="c20a8a02-b4fe-42f6-8098-28f80703c1a5" providerId="ADAL" clId="{CACF7B39-15D8-4AB0-B094-4E7549337A18}" dt="2026-08-19T03:37:29.759" v="1924"/>
        <pc:sldMkLst>
          <pc:docMk/>
          <pc:sldMk cId="2987229753" sldId="261"/>
        </pc:sldMkLst>
      </pc:sldChg>
      <pc:sldChg chg="addSp delSp modSp new del mod ord modAnim">
        <pc:chgData name="Joannes Reyes" userId="c20a8a02-b4fe-42f6-8098-28f80703c1a5" providerId="ADAL" clId="{CACF7B39-15D8-4AB0-B094-4E7549337A18}" dt="2026-08-19T03:37:11.302" v="1922" actId="47"/>
        <pc:sldMkLst>
          <pc:docMk/>
          <pc:sldMk cId="269560866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08F1-BC73-48ED-0958-AA28F7CBA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9E25F-7254-9B64-525C-77FA56338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08A92-E100-4DDF-032C-5DF34CD3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B4BF-9AC2-42E7-6DE6-9425718C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F0B28-14B1-048A-1BE3-424BE5F7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8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FF10-D582-03EF-CB77-A20E4FD5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177A0-F0E1-8E37-FD3C-10FC4242E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D15A-5925-FE8C-15AF-06447EF3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28334-C209-95DB-6EE0-4BB33AC3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1506C-B586-B662-2CB3-50F379F6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9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177A0-F0E1-8E37-FD3C-10FC4242E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5825"/>
            <a:ext cx="10515600" cy="5511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D15A-5925-FE8C-15AF-06447EF3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28334-C209-95DB-6EE0-4BB33AC3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1506C-B586-B662-2CB3-50F379F6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2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B7C2-A283-3D9C-FF03-48B8EAB2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C4A57-61C9-A37A-FB50-AA881C432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43531-B876-9C44-4AD9-7BDC6E1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BBB13-03CB-7D57-30CF-09CA9660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2DCF8-F83A-A355-ABFF-FEABC901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3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4715-6CE2-8AC5-DD8C-EC3AE2B6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9F5A1-600A-B00D-70E1-A833D80F7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C09B4-E423-92C0-4AFB-EA3E0219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18742-E4A3-104F-A8CD-F88657E8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D8FD5-4260-619E-0C10-AEE8F39A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9F645-16BB-FD56-0153-5EAC8582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2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082F-1F9A-6D05-229E-8D136CA51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6B05B-4684-C5C4-DE1C-238CD6742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8FB47-A4C0-208F-4870-C0974ADB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8E746-E024-183D-CC26-83D045EF2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34430-BA8C-B9F6-1EC8-B2D54299A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6B896-9A04-23D3-C47B-9C6E229F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8943E-C046-2A02-B30C-D5FB294E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FCB47-6F48-0D48-E75B-D9688D79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5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C698-5432-A163-C5F5-D7996A17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F7B5DD-25B6-33A9-D7A9-283455F1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9789-0EA3-F04F-0778-D4A00E364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3E6F2-F339-85AC-025A-CE585748B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82E81-E370-C5E8-89C6-B59639E3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030B96-0AA7-E613-A3E3-EC7B0B71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F01D8-02D1-0358-2E34-0D75337E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4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77B6-577B-44CD-EEE6-C2E61AEE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84384-8A99-2E19-C227-E0946ACA1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0FACF-4DC4-65C7-7A02-FF7A8090F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679DF-3AF4-FED8-660F-213CBD57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B5814-4768-6749-365E-C17D2303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199DB-20C7-17B5-3B6D-8EF178DA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7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1457-FB68-0D62-7650-7A9F0CEC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BF3058-20E8-5B05-F495-4BE90C25F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7914F-B4C1-6B04-25A5-97988472C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13F3E-5442-9072-E67C-A6432209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CBBFC-2226-F85F-3356-29389B5D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E7B18-D7A1-FF66-F8ED-59497AAB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2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613B-92C8-3145-E43D-FD8B5D06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68BB0-739E-5A42-0876-F3D326637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E8718-7345-2605-C628-8133934C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504A4-C9A3-1086-D3F0-C44BF637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F80B7-3DB2-BB57-BE04-A6854699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35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35FE6-CD52-1802-9905-ED39DA3CC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AAEFC-949D-6C83-3CCC-BE4D301D8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97901-E646-960C-9A9E-194CA456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24B2-F83A-79B3-4684-DDE6AB80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34DDA-1F04-8070-7FEA-54837A6B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79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71FC09-6C5A-9F83-DF28-067D2ABF2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AAC2C-71F6-DBB3-F636-05760D7D6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FB277-311E-5D35-62D2-F157B40A8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43B82-94BD-4788-8643-3990262CC98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EFCE5-BDD9-D5CC-0800-5C91D059A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68B2B-85C5-D0B6-D6D8-352A5BCE5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8A6B4-1C5B-4E11-A8F6-083E57D25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0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0F1F5-5D59-ED27-7EF4-16D729CE1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</a:t>
            </a:r>
            <a:br>
              <a:rPr lang="en-US" dirty="0"/>
            </a:br>
            <a:r>
              <a:rPr lang="en-US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164898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AB8B-5B90-C631-3CCD-034DC3E0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415"/>
          </a:xfrm>
        </p:spPr>
        <p:txBody>
          <a:bodyPr/>
          <a:lstStyle/>
          <a:p>
            <a:r>
              <a:rPr lang="en-US" dirty="0"/>
              <a:t>What is a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6FAB7-1E37-75B9-44DF-F4967427C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540"/>
            <a:ext cx="10515600" cy="490442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table</a:t>
            </a:r>
            <a:r>
              <a:rPr lang="en-US" dirty="0"/>
              <a:t> in a database is a structured collection of related data organized into rows and columns. Each table represents a single entity (such as Customer information, Students, Employees, </a:t>
            </a:r>
            <a:r>
              <a:rPr lang="en-US" dirty="0" err="1"/>
              <a:t>etc</a:t>
            </a:r>
            <a:r>
              <a:rPr lang="en-US" dirty="0"/>
              <a:t>), where each row represents one </a:t>
            </a:r>
            <a:r>
              <a:rPr lang="en-US" b="1" dirty="0"/>
              <a:t>record</a:t>
            </a:r>
            <a:r>
              <a:rPr lang="en-US" dirty="0"/>
              <a:t> and each column represents a specific </a:t>
            </a:r>
            <a:r>
              <a:rPr lang="en-US" b="1" dirty="0"/>
              <a:t>attribute</a:t>
            </a:r>
            <a:r>
              <a:rPr lang="en-US" dirty="0"/>
              <a:t> or </a:t>
            </a:r>
            <a:r>
              <a:rPr lang="en-US" b="1" dirty="0"/>
              <a:t>field</a:t>
            </a:r>
            <a:r>
              <a:rPr lang="en-US" dirty="0"/>
              <a:t> of that record. </a:t>
            </a:r>
          </a:p>
          <a:p>
            <a:r>
              <a:rPr lang="en-US" dirty="0"/>
              <a:t>Tables provide an organized way to store, retrieve, update, and manage data efficiently while maintaining relationships with other tables through keys.</a:t>
            </a:r>
          </a:p>
        </p:txBody>
      </p:sp>
    </p:spTree>
    <p:extLst>
      <p:ext uri="{BB962C8B-B14F-4D97-AF65-F5344CB8AC3E}">
        <p14:creationId xmlns:p14="http://schemas.microsoft.com/office/powerpoint/2010/main" val="2987229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EBAAC-6638-A96B-5E07-3FB96302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760" y="3429000"/>
            <a:ext cx="8326915" cy="27481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32BE3D-968F-2C71-EF11-9B1216202933}"/>
              </a:ext>
            </a:extLst>
          </p:cNvPr>
          <p:cNvSpPr/>
          <p:nvPr/>
        </p:nvSpPr>
        <p:spPr>
          <a:xfrm>
            <a:off x="7948403" y="2428979"/>
            <a:ext cx="202427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Attribute or Field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E0AE7C-EE32-15F5-F533-E281D44FD74F}"/>
              </a:ext>
            </a:extLst>
          </p:cNvPr>
          <p:cNvCxnSpPr/>
          <p:nvPr/>
        </p:nvCxnSpPr>
        <p:spPr>
          <a:xfrm flipH="1">
            <a:off x="5715000" y="2867478"/>
            <a:ext cx="2066925" cy="45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A34D25-2FE5-A40E-9BB4-2EC31AC4DFD5}"/>
              </a:ext>
            </a:extLst>
          </p:cNvPr>
          <p:cNvCxnSpPr>
            <a:cxnSpLocks/>
          </p:cNvCxnSpPr>
          <p:nvPr/>
        </p:nvCxnSpPr>
        <p:spPr>
          <a:xfrm flipH="1">
            <a:off x="7781925" y="2842871"/>
            <a:ext cx="315715" cy="476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77918D-8B27-5A46-4CAD-C031C3047AF8}"/>
              </a:ext>
            </a:extLst>
          </p:cNvPr>
          <p:cNvCxnSpPr/>
          <p:nvPr/>
        </p:nvCxnSpPr>
        <p:spPr>
          <a:xfrm flipH="1">
            <a:off x="3571875" y="2705553"/>
            <a:ext cx="4210050" cy="614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60B8C3-A8DE-4FE9-6D14-F342B0EA4800}"/>
              </a:ext>
            </a:extLst>
          </p:cNvPr>
          <p:cNvCxnSpPr>
            <a:cxnSpLocks/>
          </p:cNvCxnSpPr>
          <p:nvPr/>
        </p:nvCxnSpPr>
        <p:spPr>
          <a:xfrm>
            <a:off x="8480030" y="2867478"/>
            <a:ext cx="450455" cy="45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CBA762-5B16-E914-C82B-62B49E742E28}"/>
              </a:ext>
            </a:extLst>
          </p:cNvPr>
          <p:cNvCxnSpPr>
            <a:cxnSpLocks/>
          </p:cNvCxnSpPr>
          <p:nvPr/>
        </p:nvCxnSpPr>
        <p:spPr>
          <a:xfrm flipH="1">
            <a:off x="2400300" y="2596313"/>
            <a:ext cx="5381625" cy="723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AB5B785-6A86-9A24-9E39-FB2EB66629F3}"/>
              </a:ext>
            </a:extLst>
          </p:cNvPr>
          <p:cNvSpPr/>
          <p:nvPr/>
        </p:nvSpPr>
        <p:spPr>
          <a:xfrm>
            <a:off x="10875955" y="4142568"/>
            <a:ext cx="97783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Record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A4E015-2B6C-A0A2-D0AB-C492D316AA23}"/>
              </a:ext>
            </a:extLst>
          </p:cNvPr>
          <p:cNvCxnSpPr>
            <a:cxnSpLocks/>
          </p:cNvCxnSpPr>
          <p:nvPr/>
        </p:nvCxnSpPr>
        <p:spPr>
          <a:xfrm flipH="1" flipV="1">
            <a:off x="10153650" y="3991428"/>
            <a:ext cx="647700" cy="302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06E4696-E827-380F-0131-D992CEAF619B}"/>
              </a:ext>
            </a:extLst>
          </p:cNvPr>
          <p:cNvSpPr/>
          <p:nvPr/>
        </p:nvSpPr>
        <p:spPr>
          <a:xfrm>
            <a:off x="4608132" y="1482268"/>
            <a:ext cx="17660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978A30-4F03-914E-E9AB-4DD3CA3B2E8D}"/>
              </a:ext>
            </a:extLst>
          </p:cNvPr>
          <p:cNvSpPr txBox="1"/>
          <p:nvPr/>
        </p:nvSpPr>
        <p:spPr>
          <a:xfrm>
            <a:off x="933449" y="465087"/>
            <a:ext cx="102393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Imagine the savings account for customers. What data do you think are relevant to store for each customer?</a:t>
            </a:r>
          </a:p>
        </p:txBody>
      </p:sp>
    </p:spTree>
    <p:extLst>
      <p:ext uri="{BB962C8B-B14F-4D97-AF65-F5344CB8AC3E}">
        <p14:creationId xmlns:p14="http://schemas.microsoft.com/office/powerpoint/2010/main" val="229844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723BC9-EB32-769D-6227-79863E01D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Imagine the savings, checking and loan account for customers.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Why is this a problem?</a:t>
            </a:r>
          </a:p>
          <a:p>
            <a:pPr marL="0" indent="0">
              <a:buNone/>
            </a:pPr>
            <a:r>
              <a:rPr lang="en-US" dirty="0"/>
              <a:t>Information is duplicated across multiple files.</a:t>
            </a:r>
          </a:p>
          <a:p>
            <a:pPr marL="0" indent="0">
              <a:buNone/>
            </a:pPr>
            <a:r>
              <a:rPr lang="en-US" dirty="0"/>
              <a:t>If John Smith moves to a new address, the bank must update </a:t>
            </a:r>
            <a:r>
              <a:rPr lang="en-US" b="1" dirty="0"/>
              <a:t>every file</a:t>
            </a:r>
            <a:r>
              <a:rPr lang="en-US" dirty="0"/>
              <a:t> containing his address. If one file is updated but another is not, the bank ends up with conflicting information.</a:t>
            </a:r>
          </a:p>
          <a:p>
            <a:pPr marL="0" indent="0">
              <a:buNone/>
            </a:pPr>
            <a:r>
              <a:rPr lang="en-US" b="1" dirty="0"/>
              <a:t>Data redundancy </a:t>
            </a:r>
            <a:r>
              <a:rPr lang="en-US" dirty="0"/>
              <a:t>is a situation that occurs in a database when a field needs to be updated in more than one table.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2A6403-6664-B3E5-6135-B5FF34B90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911" y="1230461"/>
            <a:ext cx="3040968" cy="20175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76C3F7-1F01-A8F2-56C1-B3AA7864E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852" y="1228538"/>
            <a:ext cx="2925467" cy="2017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218F93-38BB-6B95-571A-498CD51F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387" y="1226519"/>
            <a:ext cx="2914259" cy="201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9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F16A68-D4C9-BC7B-45E2-4527A7173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a customer, </a:t>
            </a:r>
            <a:r>
              <a:rPr lang="en-US" b="1" dirty="0"/>
              <a:t>John Smith</a:t>
            </a:r>
            <a:r>
              <a:rPr lang="en-US" dirty="0"/>
              <a:t>, has:</a:t>
            </a:r>
          </a:p>
          <a:p>
            <a:pPr lvl="1"/>
            <a:r>
              <a:rPr lang="en-US" dirty="0"/>
              <a:t>Savings: </a:t>
            </a:r>
            <a:r>
              <a:rPr lang="en-US" b="1" dirty="0"/>
              <a:t>$5,200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Checking: </a:t>
            </a:r>
            <a:r>
              <a:rPr lang="en-US" b="1" dirty="0"/>
              <a:t>$1,850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Loan: </a:t>
            </a:r>
            <a:r>
              <a:rPr lang="en-US" b="1" dirty="0"/>
              <a:t>$15,000</a:t>
            </a:r>
            <a:r>
              <a:rPr lang="en-US" dirty="0"/>
              <a:t> </a:t>
            </a:r>
          </a:p>
          <a:p>
            <a:r>
              <a:rPr lang="en-US" dirty="0"/>
              <a:t>A customer service representative wants to see </a:t>
            </a:r>
            <a:r>
              <a:rPr lang="en-US" b="1" dirty="0"/>
              <a:t>all of John's accounts</a:t>
            </a:r>
            <a:r>
              <a:rPr lang="en-US" dirty="0"/>
              <a:t> during a phone call. Because the information is stored in three separate files, they must:</a:t>
            </a:r>
          </a:p>
          <a:p>
            <a:pPr lvl="1"/>
            <a:r>
              <a:rPr lang="en-US" dirty="0"/>
              <a:t>Search the Savings Account file. </a:t>
            </a:r>
          </a:p>
          <a:p>
            <a:pPr lvl="1"/>
            <a:r>
              <a:rPr lang="en-US" dirty="0"/>
              <a:t>Search the Checking Account file. </a:t>
            </a:r>
          </a:p>
          <a:p>
            <a:pPr lvl="1"/>
            <a:r>
              <a:rPr lang="en-US" dirty="0"/>
              <a:t>Search the Loan file. </a:t>
            </a:r>
          </a:p>
          <a:p>
            <a:pPr lvl="1"/>
            <a:r>
              <a:rPr lang="en-US" dirty="0"/>
              <a:t>Manually combine the information. </a:t>
            </a:r>
          </a:p>
          <a:p>
            <a:r>
              <a:rPr lang="en-US" b="1" dirty="0"/>
              <a:t>Why is this a problem?</a:t>
            </a:r>
          </a:p>
          <a:p>
            <a:pPr marL="0" indent="0">
              <a:buNone/>
            </a:pPr>
            <a:r>
              <a:rPr lang="en-US" dirty="0"/>
              <a:t>Since the data is isolated in different files, there is no single place where all of John's banking information is available.</a:t>
            </a:r>
          </a:p>
          <a:p>
            <a:pPr marL="0" indent="0">
              <a:buNone/>
            </a:pPr>
            <a:r>
              <a:rPr lang="en-US" b="1" dirty="0"/>
              <a:t>Data isolation </a:t>
            </a:r>
            <a:r>
              <a:rPr lang="en-US" dirty="0"/>
              <a:t>occurs when related data is stored in separate files or systems, making it difficult to access, combine, and analyze the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82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339919-AC82-CA0D-D176-323AC5253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Suppose a customer, </a:t>
            </a:r>
            <a:r>
              <a:rPr lang="en-US" b="1" dirty="0"/>
              <a:t>John Smith</a:t>
            </a:r>
            <a:r>
              <a:rPr lang="en-US" dirty="0"/>
              <a:t>, changes his address from </a:t>
            </a:r>
            <a:r>
              <a:rPr lang="en-US" b="1" dirty="0"/>
              <a:t>123 Main St.</a:t>
            </a:r>
            <a:r>
              <a:rPr lang="en-US" dirty="0"/>
              <a:t> to </a:t>
            </a:r>
            <a:r>
              <a:rPr lang="en-US" b="1" dirty="0"/>
              <a:t>456 Oak Ave. </a:t>
            </a:r>
            <a:r>
              <a:rPr lang="en-US" dirty="0"/>
              <a:t>Because the bank uses a file-based system, his information is stored separately in the:</a:t>
            </a:r>
          </a:p>
          <a:p>
            <a:pPr lvl="1"/>
            <a:r>
              <a:rPr lang="en-US" b="1" dirty="0"/>
              <a:t>Savings Account File</a:t>
            </a:r>
            <a:r>
              <a:rPr lang="en-US" dirty="0"/>
              <a:t> → Address updated to </a:t>
            </a:r>
            <a:r>
              <a:rPr lang="en-US" b="1" dirty="0"/>
              <a:t>456 Oak Ave.</a:t>
            </a:r>
            <a:r>
              <a:rPr lang="en-US" dirty="0"/>
              <a:t> ✅ </a:t>
            </a:r>
          </a:p>
          <a:p>
            <a:pPr lvl="1"/>
            <a:r>
              <a:rPr lang="en-US" b="1" dirty="0"/>
              <a:t>Checking Account File</a:t>
            </a:r>
            <a:r>
              <a:rPr lang="en-US" dirty="0"/>
              <a:t> → Still </a:t>
            </a:r>
            <a:r>
              <a:rPr lang="en-US" b="1" dirty="0"/>
              <a:t>123 Main St.</a:t>
            </a:r>
            <a:r>
              <a:rPr lang="en-US" dirty="0"/>
              <a:t> ❌ </a:t>
            </a:r>
          </a:p>
          <a:p>
            <a:pPr lvl="1"/>
            <a:r>
              <a:rPr lang="en-US" b="1" dirty="0"/>
              <a:t>Loan File</a:t>
            </a:r>
            <a:r>
              <a:rPr lang="en-US" dirty="0"/>
              <a:t> → Address updated to </a:t>
            </a:r>
            <a:r>
              <a:rPr lang="en-US" b="1" dirty="0"/>
              <a:t>456 Oak Ave.</a:t>
            </a:r>
            <a:r>
              <a:rPr lang="en-US" dirty="0"/>
              <a:t> ✅ </a:t>
            </a:r>
          </a:p>
          <a:p>
            <a:r>
              <a:rPr lang="en-US" dirty="0"/>
              <a:t>Now the bank has </a:t>
            </a:r>
            <a:r>
              <a:rPr lang="en-US" b="1" dirty="0"/>
              <a:t>conflicting information</a:t>
            </a:r>
            <a:r>
              <a:rPr lang="en-US" dirty="0"/>
              <a:t> about the same customer. One department may send statements to the old address while another sends them to the new address.</a:t>
            </a:r>
          </a:p>
          <a:p>
            <a:r>
              <a:rPr lang="en-US" dirty="0"/>
              <a:t>Why is this a problem?</a:t>
            </a:r>
          </a:p>
          <a:p>
            <a:pPr marL="0" indent="0">
              <a:buNone/>
            </a:pPr>
            <a:r>
              <a:rPr lang="en-US" dirty="0"/>
              <a:t>This is an integrity problem because the data is no longer accurate and consistent across the system.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integrity problem </a:t>
            </a:r>
            <a:r>
              <a:rPr lang="en-US" dirty="0"/>
              <a:t>occurs when the accuracy or consistency of data is compromised, resulting in conflicting or incorrect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61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6AFD7-51DC-779F-D548-3AFDDD658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Suppose a bank teller's job is to process deposits and withdrawals for </a:t>
            </a:r>
            <a:r>
              <a:rPr lang="en-US" b="1" dirty="0"/>
              <a:t>checking and savings accounts</a:t>
            </a:r>
            <a:r>
              <a:rPr lang="en-US" dirty="0"/>
              <a:t> only. However, because the file-based system has poor access controls, the teller can also open the </a:t>
            </a:r>
            <a:r>
              <a:rPr lang="en-US" b="1" dirty="0"/>
              <a:t>Loan File</a:t>
            </a:r>
            <a:r>
              <a:rPr lang="en-US" dirty="0"/>
              <a:t>.</a:t>
            </a:r>
          </a:p>
          <a:p>
            <a:r>
              <a:rPr lang="en-US" dirty="0"/>
              <a:t>As a result, the teller can view confidential information such as:</a:t>
            </a:r>
          </a:p>
          <a:p>
            <a:pPr lvl="1"/>
            <a:r>
              <a:rPr lang="en-US" dirty="0"/>
              <a:t>Customers' loan balances </a:t>
            </a:r>
          </a:p>
          <a:p>
            <a:pPr lvl="1"/>
            <a:r>
              <a:rPr lang="en-US" dirty="0"/>
              <a:t>Credit history </a:t>
            </a:r>
          </a:p>
          <a:p>
            <a:pPr lvl="1"/>
            <a:r>
              <a:rPr lang="en-US" dirty="0"/>
              <a:t>Monthly loan payments </a:t>
            </a:r>
          </a:p>
          <a:p>
            <a:r>
              <a:rPr lang="en-US" dirty="0"/>
              <a:t>Why is this a problem?</a:t>
            </a:r>
          </a:p>
          <a:p>
            <a:r>
              <a:rPr lang="en-US" dirty="0"/>
              <a:t>Even though this information is unrelated to the teller's job, they still have access to it.</a:t>
            </a:r>
          </a:p>
          <a:p>
            <a:r>
              <a:rPr lang="en-US" dirty="0"/>
              <a:t>A </a:t>
            </a:r>
            <a:r>
              <a:rPr lang="en-US" b="1" dirty="0"/>
              <a:t>security problem </a:t>
            </a:r>
            <a:r>
              <a:rPr lang="en-US" dirty="0"/>
              <a:t>occurs when unauthorized users are able to access, view, modify, or delete data they should not have permission to access.</a:t>
            </a:r>
          </a:p>
        </p:txBody>
      </p:sp>
    </p:spTree>
    <p:extLst>
      <p:ext uri="{BB962C8B-B14F-4D97-AF65-F5344CB8AC3E}">
        <p14:creationId xmlns:p14="http://schemas.microsoft.com/office/powerpoint/2010/main" val="93046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972B7B-CB03-CF48-5BB2-684D0A295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</a:t>
            </a:r>
            <a:r>
              <a:rPr lang="en-US" b="1" dirty="0"/>
              <a:t>John Smith</a:t>
            </a:r>
            <a:r>
              <a:rPr lang="en-US" dirty="0"/>
              <a:t> has </a:t>
            </a:r>
            <a:r>
              <a:rPr lang="en-US" b="1" dirty="0"/>
              <a:t>$5,000</a:t>
            </a:r>
            <a:r>
              <a:rPr lang="en-US" dirty="0"/>
              <a:t> in his </a:t>
            </a:r>
            <a:r>
              <a:rPr lang="en-US" b="1" dirty="0"/>
              <a:t>checking account</a:t>
            </a:r>
            <a:r>
              <a:rPr lang="en-US" dirty="0"/>
              <a:t>.</a:t>
            </a:r>
          </a:p>
          <a:p>
            <a:r>
              <a:rPr lang="en-US" dirty="0"/>
              <a:t>At the same time: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bank teller</a:t>
            </a:r>
            <a:r>
              <a:rPr lang="en-US" dirty="0"/>
              <a:t> is processing a </a:t>
            </a:r>
            <a:r>
              <a:rPr lang="en-US" b="1" dirty="0"/>
              <a:t>$1,000 cash withdrawal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ATM</a:t>
            </a:r>
            <a:r>
              <a:rPr lang="en-US" dirty="0"/>
              <a:t> is processing a </a:t>
            </a:r>
            <a:r>
              <a:rPr lang="en-US" b="1" dirty="0"/>
              <a:t>$500 withdrawal</a:t>
            </a:r>
            <a:r>
              <a:rPr lang="en-US" dirty="0"/>
              <a:t> from the same checking account. </a:t>
            </a:r>
          </a:p>
          <a:p>
            <a:pPr lvl="1"/>
            <a:r>
              <a:rPr lang="en-US" dirty="0"/>
              <a:t>Both transactions read the balance before either one updates it.</a:t>
            </a:r>
          </a:p>
          <a:p>
            <a:pPr lvl="1"/>
            <a:r>
              <a:rPr lang="en-US" dirty="0"/>
              <a:t>The teller reads the balance: </a:t>
            </a:r>
            <a:r>
              <a:rPr lang="en-US" b="1" dirty="0"/>
              <a:t>$5,000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ATM also reads the balance: </a:t>
            </a:r>
            <a:r>
              <a:rPr lang="en-US" b="1" dirty="0"/>
              <a:t>$5,000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teller subtracts $1,000 and saves the new balance: </a:t>
            </a:r>
            <a:r>
              <a:rPr lang="en-US" b="1" dirty="0"/>
              <a:t>$4,000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ATM subtracts $500 from the balance it originally read ($5,000) and saves </a:t>
            </a:r>
            <a:r>
              <a:rPr lang="en-US" b="1" dirty="0"/>
              <a:t>$4,500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final balance becomes </a:t>
            </a:r>
            <a:r>
              <a:rPr lang="en-US" b="1" dirty="0"/>
              <a:t>$4,500</a:t>
            </a:r>
            <a:r>
              <a:rPr lang="en-US" dirty="0"/>
              <a:t>, when it should be </a:t>
            </a:r>
            <a:r>
              <a:rPr lang="en-US" b="1" dirty="0"/>
              <a:t>$3,500</a:t>
            </a:r>
            <a:r>
              <a:rPr lang="en-US" dirty="0"/>
              <a:t>.</a:t>
            </a:r>
          </a:p>
          <a:p>
            <a:r>
              <a:rPr lang="en-US" dirty="0"/>
              <a:t>This happened because </a:t>
            </a:r>
            <a:r>
              <a:rPr lang="en-US" b="1" dirty="0"/>
              <a:t>both transactions accessed and updated the same account simultaneously</a:t>
            </a:r>
            <a:r>
              <a:rPr lang="en-US" dirty="0"/>
              <a:t>, causing one update to overwrite the other.</a:t>
            </a:r>
          </a:p>
          <a:p>
            <a:r>
              <a:rPr lang="en-US" dirty="0"/>
              <a:t>A </a:t>
            </a:r>
            <a:r>
              <a:rPr lang="en-US" b="1" dirty="0"/>
              <a:t>concurrency problem </a:t>
            </a:r>
            <a:r>
              <a:rPr lang="en-US" dirty="0"/>
              <a:t>occurs when two or more users or transactions access and modify the same data at the same time, resulting in incorrect or inconsistent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48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833E6-BFA9-D769-D9AF-82E6BD29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So, to summarize, the issues with maintaining a file-based system are:</a:t>
            </a:r>
          </a:p>
          <a:p>
            <a:endParaRPr lang="en-US" dirty="0"/>
          </a:p>
          <a:p>
            <a:pPr marL="514350" indent="-514350">
              <a:buAutoNum type="arabicPeriod"/>
            </a:pPr>
            <a:r>
              <a:rPr lang="en-US" b="1" dirty="0"/>
              <a:t>Data redundancy- </a:t>
            </a:r>
            <a:r>
              <a:rPr lang="en-US" dirty="0"/>
              <a:t>is a situation that occurs in a database when a field needs to be updated in more than one table.</a:t>
            </a:r>
          </a:p>
          <a:p>
            <a:pPr marL="514350" indent="-514350">
              <a:buFontTx/>
              <a:buAutoNum type="arabicPeriod"/>
            </a:pPr>
            <a:r>
              <a:rPr lang="en-US" b="1" dirty="0"/>
              <a:t>Data isolation </a:t>
            </a:r>
            <a:r>
              <a:rPr lang="en-US" dirty="0"/>
              <a:t>- occurs when related data is stored in separate files or systems, making it difficult to access, combine, and analyze the information.</a:t>
            </a:r>
          </a:p>
          <a:p>
            <a:pPr marL="514350" indent="-514350">
              <a:buFontTx/>
              <a:buAutoNum type="arabicPeriod"/>
            </a:pPr>
            <a:r>
              <a:rPr lang="en-US" b="1" dirty="0"/>
              <a:t>Integrity problem </a:t>
            </a:r>
            <a:r>
              <a:rPr lang="en-US" dirty="0"/>
              <a:t>- occurs when the accuracy or consistency of data is compromised, resulting in conflicting or incorrect information.</a:t>
            </a:r>
          </a:p>
          <a:p>
            <a:pPr marL="514350" indent="-514350">
              <a:buAutoNum type="arabicPeriod"/>
            </a:pPr>
            <a:r>
              <a:rPr lang="en-US" b="1" dirty="0"/>
              <a:t>Security problem </a:t>
            </a:r>
            <a:r>
              <a:rPr lang="en-US" dirty="0"/>
              <a:t>- occurs when unauthorized users are able to access, view, modify, or delete data they should not have permission to access.</a:t>
            </a:r>
          </a:p>
          <a:p>
            <a:pPr marL="514350" indent="-514350">
              <a:buFontTx/>
              <a:buAutoNum type="arabicPeriod"/>
            </a:pPr>
            <a:r>
              <a:rPr lang="en-US" b="1" dirty="0"/>
              <a:t>Concurrency problem </a:t>
            </a:r>
            <a:r>
              <a:rPr lang="en-US" dirty="0"/>
              <a:t>- occurs when two or more users or transactions access and modify the same data at the same time, resulting in incorrect or inconsistent data.</a:t>
            </a:r>
          </a:p>
        </p:txBody>
      </p:sp>
    </p:spTree>
    <p:extLst>
      <p:ext uri="{BB962C8B-B14F-4D97-AF65-F5344CB8AC3E}">
        <p14:creationId xmlns:p14="http://schemas.microsoft.com/office/powerpoint/2010/main" val="53938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890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Chapter 1 Tables</vt:lpstr>
      <vt:lpstr>What is a table?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Reyes</dc:creator>
  <cp:lastModifiedBy>Joannes Reyes</cp:lastModifiedBy>
  <cp:revision>1</cp:revision>
  <dcterms:created xsi:type="dcterms:W3CDTF">2026-07-11T03:18:26Z</dcterms:created>
  <dcterms:modified xsi:type="dcterms:W3CDTF">2026-08-19T03:37:36Z</dcterms:modified>
</cp:coreProperties>
</file>