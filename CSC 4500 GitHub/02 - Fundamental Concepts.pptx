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3BFC5-5923-4CE1-B9F1-3FCED86D16E9}" v="11" dt="2026-09-02T22:07:46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nnes Reyes" userId="c20a8a02-b4fe-42f6-8098-28f80703c1a5" providerId="ADAL" clId="{CACF7B39-15D8-4AB0-B094-4E7549337A18}"/>
    <pc:docChg chg="modSld">
      <pc:chgData name="Joannes Reyes" userId="c20a8a02-b4fe-42f6-8098-28f80703c1a5" providerId="ADAL" clId="{CACF7B39-15D8-4AB0-B094-4E7549337A18}" dt="2026-09-02T22:07:46.372" v="8"/>
      <pc:docMkLst>
        <pc:docMk/>
      </pc:docMkLst>
      <pc:sldChg chg="addSp modSp">
        <pc:chgData name="Joannes Reyes" userId="c20a8a02-b4fe-42f6-8098-28f80703c1a5" providerId="ADAL" clId="{CACF7B39-15D8-4AB0-B094-4E7549337A18}" dt="2026-09-02T19:40:03.767" v="3" actId="767"/>
        <pc:sldMkLst>
          <pc:docMk/>
          <pc:sldMk cId="3277838618" sldId="257"/>
        </pc:sldMkLst>
        <pc:spChg chg="mod">
          <ac:chgData name="Joannes Reyes" userId="c20a8a02-b4fe-42f6-8098-28f80703c1a5" providerId="ADAL" clId="{CACF7B39-15D8-4AB0-B094-4E7549337A18}" dt="2026-09-02T19:38:12.843" v="0"/>
          <ac:spMkLst>
            <pc:docMk/>
            <pc:sldMk cId="3277838618" sldId="257"/>
            <ac:spMk id="3" creationId="{FB66AA94-3B09-EAA7-B1CE-9EFAD7CDE606}"/>
          </ac:spMkLst>
        </pc:spChg>
        <pc:spChg chg="add mod">
          <ac:chgData name="Joannes Reyes" userId="c20a8a02-b4fe-42f6-8098-28f80703c1a5" providerId="ADAL" clId="{CACF7B39-15D8-4AB0-B094-4E7549337A18}" dt="2026-09-02T19:40:03.767" v="3" actId="767"/>
          <ac:spMkLst>
            <pc:docMk/>
            <pc:sldMk cId="3277838618" sldId="257"/>
            <ac:spMk id="6" creationId="{90E4086A-6AA0-5D23-46A9-3CA9421A3631}"/>
          </ac:spMkLst>
        </pc:spChg>
        <pc:graphicFrameChg chg="add mod">
          <ac:chgData name="Joannes Reyes" userId="c20a8a02-b4fe-42f6-8098-28f80703c1a5" providerId="ADAL" clId="{CACF7B39-15D8-4AB0-B094-4E7549337A18}" dt="2026-09-02T19:39:46.228" v="2"/>
          <ac:graphicFrameMkLst>
            <pc:docMk/>
            <pc:sldMk cId="3277838618" sldId="257"/>
            <ac:graphicFrameMk id="5" creationId="{3AAFA1BA-EC09-2031-ADBB-B86AC85EDD14}"/>
          </ac:graphicFrameMkLst>
        </pc:graphicFrameChg>
        <pc:picChg chg="add mod">
          <ac:chgData name="Joannes Reyes" userId="c20a8a02-b4fe-42f6-8098-28f80703c1a5" providerId="ADAL" clId="{CACF7B39-15D8-4AB0-B094-4E7549337A18}" dt="2026-09-02T19:38:20.175" v="1"/>
          <ac:picMkLst>
            <pc:docMk/>
            <pc:sldMk cId="3277838618" sldId="257"/>
            <ac:picMk id="4" creationId="{0F567860-BF18-FF4A-9057-2ECA5F53A5AA}"/>
          </ac:picMkLst>
        </pc:picChg>
      </pc:sldChg>
      <pc:sldChg chg="modSp">
        <pc:chgData name="Joannes Reyes" userId="c20a8a02-b4fe-42f6-8098-28f80703c1a5" providerId="ADAL" clId="{CACF7B39-15D8-4AB0-B094-4E7549337A18}" dt="2026-09-02T19:52:35.755" v="5"/>
        <pc:sldMkLst>
          <pc:docMk/>
          <pc:sldMk cId="1085371406" sldId="260"/>
        </pc:sldMkLst>
        <pc:spChg chg="mod">
          <ac:chgData name="Joannes Reyes" userId="c20a8a02-b4fe-42f6-8098-28f80703c1a5" providerId="ADAL" clId="{CACF7B39-15D8-4AB0-B094-4E7549337A18}" dt="2026-09-02T19:52:35.755" v="5"/>
          <ac:spMkLst>
            <pc:docMk/>
            <pc:sldMk cId="1085371406" sldId="260"/>
            <ac:spMk id="9" creationId="{49966AB2-F3F3-4921-60FC-9AEFF19B7198}"/>
          </ac:spMkLst>
        </pc:spChg>
      </pc:sldChg>
      <pc:sldChg chg="addSp modSp">
        <pc:chgData name="Joannes Reyes" userId="c20a8a02-b4fe-42f6-8098-28f80703c1a5" providerId="ADAL" clId="{CACF7B39-15D8-4AB0-B094-4E7549337A18}" dt="2026-09-02T22:07:46.372" v="8"/>
        <pc:sldMkLst>
          <pc:docMk/>
          <pc:sldMk cId="4034087914" sldId="262"/>
        </pc:sldMkLst>
        <pc:spChg chg="mod">
          <ac:chgData name="Joannes Reyes" userId="c20a8a02-b4fe-42f6-8098-28f80703c1a5" providerId="ADAL" clId="{CACF7B39-15D8-4AB0-B094-4E7549337A18}" dt="2026-09-02T22:07:39.583" v="7"/>
          <ac:spMkLst>
            <pc:docMk/>
            <pc:sldMk cId="4034087914" sldId="262"/>
            <ac:spMk id="3" creationId="{36DD54F8-7832-DA0E-EF20-B778FA916F19}"/>
          </ac:spMkLst>
        </pc:spChg>
        <pc:picChg chg="add mod">
          <ac:chgData name="Joannes Reyes" userId="c20a8a02-b4fe-42f6-8098-28f80703c1a5" providerId="ADAL" clId="{CACF7B39-15D8-4AB0-B094-4E7549337A18}" dt="2026-09-02T22:07:46.372" v="8"/>
          <ac:picMkLst>
            <pc:docMk/>
            <pc:sldMk cId="4034087914" sldId="262"/>
            <ac:picMk id="4" creationId="{61D8795D-BD41-9E36-E523-4E6836CC959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7F79F-6743-0B64-A7A3-EF17C3351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817266-3FB5-3B89-C766-712AA5D3A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4B9D4-2A64-AE84-CBF9-697CC98A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112-A3B5-4CE7-8EF0-4FF8446EE92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D2E1F-CA0A-E281-D706-B29B714F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DF1E4-31C7-74D5-5C9A-11D3F9010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CEFC-E4A3-48B4-BA10-CDF92A1C0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21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1EA75-C0A2-E2C0-BB0D-59E98B15C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CC193-1EE9-D9B9-F557-1E771F170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18804-5F06-A9A3-1530-C52A33F61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112-A3B5-4CE7-8EF0-4FF8446EE92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D9F86-7F9F-A526-C6D1-D9265C026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3B2EC-B01F-006A-33B8-79145D34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CEFC-E4A3-48B4-BA10-CDF92A1C0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41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AE45-11ED-038D-F89E-B2B498294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51756-4673-5098-4A0B-70FF6EC42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E659E-D5D2-15AC-14E7-3E8DA1EA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112-A3B5-4CE7-8EF0-4FF8446EE92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23BE8-20D2-502A-EB99-461E55749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52CD9-8658-F166-B301-89BBE08F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CEFC-E4A3-48B4-BA10-CDF92A1C0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47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C496-C5EC-C94F-E894-9D2A4797D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22898-E6C0-E0A9-4B5A-50C5A3EB7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51A8B-6D2F-ED24-291D-336CD03DF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C740B-A5F8-90DE-3254-06A0FD6E1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112-A3B5-4CE7-8EF0-4FF8446EE92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63FB6-18E3-28A0-68C3-DC77980B9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E5053-3E08-AC59-F19D-A6BDA56A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CEFC-E4A3-48B4-BA10-CDF92A1C0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17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3B71A-A2B7-B918-D17A-1B0D66085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C3153-B1AA-FCEF-5417-B7BAEA666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2296C-CB2B-13DE-4C05-70B8AA3E6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358A7C-B666-F9A4-4C6E-C3F9593D2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BC2EE8-F030-25BC-68F6-CC9E49736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CB3F10-2C05-DF42-62E9-673EC9D3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112-A3B5-4CE7-8EF0-4FF8446EE92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1A3891-0EA5-D72B-26D2-791885636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6B7624-F78F-234F-EE80-53D603ED6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CEFC-E4A3-48B4-BA10-CDF92A1C0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02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C141-BEA3-FA0A-71C9-412FB1545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C239A1-63C5-66C1-332C-5182F82B3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112-A3B5-4CE7-8EF0-4FF8446EE92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80985A-A48E-9047-24CE-45BC853EC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71037-F06E-79CF-F85B-456A5926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CEFC-E4A3-48B4-BA10-CDF92A1C0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033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FF5BCB-2749-D9F3-0289-C42326C31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112-A3B5-4CE7-8EF0-4FF8446EE92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48DC43-A298-6E86-70E7-92D6724B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EF5C3-367F-C2A2-1E32-957A94739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CEFC-E4A3-48B4-BA10-CDF92A1C0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31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3F03B-0234-EC97-0DE1-3F7FAA498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BCE4F-82DF-68B0-2B89-6D551ADCF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EE8D5-E814-0582-3223-0F6E3E901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D6D35-CA6F-36C4-2392-E0A6141D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112-A3B5-4CE7-8EF0-4FF8446EE92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66A82-6BCA-DCE5-72A5-4B45FC29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60DB8-2D77-B2A9-2619-5781D68EB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CEFC-E4A3-48B4-BA10-CDF92A1C0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45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5770F-8540-6BC2-935E-3C1A0C11C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66F453-44F9-C1D4-EEBB-1431734110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4FD48-90AA-892D-4097-98C4CAD07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25E1F-D45D-7B69-2344-C6AF94E4C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112-A3B5-4CE7-8EF0-4FF8446EE92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36316-B8E4-717A-653F-4525D599A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C3059-40ED-A420-A5BB-E22559A25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CEFC-E4A3-48B4-BA10-CDF92A1C0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12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83D2F-BCD7-3317-78E0-342F380C4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0E673-FF0F-CFDE-181D-E7FB7FF54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D27A4-C7D8-41C5-19FA-7388E6F95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112-A3B5-4CE7-8EF0-4FF8446EE92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74B17-9A5F-B062-7010-5B6CE0E53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29427-B501-A107-0B30-BEB82759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CEFC-E4A3-48B4-BA10-CDF92A1C0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212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20B19-B2CD-FBA2-373B-39D8F3F1DA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D2958-33D9-E64D-0F88-D718CAD75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76DB0-EE28-0FBE-8F00-5FE3D3B88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112-A3B5-4CE7-8EF0-4FF8446EE92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203B2-8D19-61E9-D6E4-226AE19F9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1EF87-6A47-D118-1B4D-480640088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CEFC-E4A3-48B4-BA10-CDF92A1C0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28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276635-E004-0A3A-C461-D97C9984E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85A50-F3C6-5408-E9B0-A1A12F58A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CEB3D-9485-0436-6B1A-BD224ACCC0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499112-A3B5-4CE7-8EF0-4FF8446EE92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6A999-6756-C656-8A07-B19DBAA7A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DFDDB-6CC3-350F-2E39-E84D1A5FA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6CEFC-E4A3-48B4-BA10-CDF92A1C0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249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le:///C:\GitHub\Private\CSC%204500%20Private\LESSONS\DATABASE%20AND%20DBMS\Relational%20Database.xlsx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F24E-0C87-E38D-7B93-103773CBBC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Fundamental Concepts</a:t>
            </a:r>
          </a:p>
        </p:txBody>
      </p:sp>
    </p:spTree>
    <p:extLst>
      <p:ext uri="{BB962C8B-B14F-4D97-AF65-F5344CB8AC3E}">
        <p14:creationId xmlns:p14="http://schemas.microsoft.com/office/powerpoint/2010/main" val="2430046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66AA94-3B09-EAA7-B1CE-9EFAD7CDE606}"/>
              </a:ext>
            </a:extLst>
          </p:cNvPr>
          <p:cNvSpPr txBox="1"/>
          <p:nvPr/>
        </p:nvSpPr>
        <p:spPr>
          <a:xfrm>
            <a:off x="903351" y="363880"/>
            <a:ext cx="1038529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The central idea of a database and DBMS is that instead of maintaining information in separate, isolated files, related data can be organized into a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shared database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that can be accessed by different users and applications.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endParaRPr lang="en-US" sz="2400" kern="1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/>
              <a:t>What Is a Database?</a:t>
            </a:r>
            <a:endParaRPr lang="en-US" sz="2400"/>
          </a:p>
          <a:p>
            <a:r>
              <a:rPr lang="en-US" sz="2400"/>
              <a:t>A </a:t>
            </a:r>
            <a:r>
              <a:rPr lang="en-US" sz="2400" b="1"/>
              <a:t>database</a:t>
            </a:r>
            <a:r>
              <a:rPr lang="en-US" sz="2400"/>
              <a:t> is an organized, shared collection of </a:t>
            </a:r>
            <a:r>
              <a:rPr lang="en-US" sz="2400" b="1"/>
              <a:t>related data</a:t>
            </a:r>
            <a:r>
              <a:rPr lang="en-US" sz="2400"/>
              <a:t> created to support the activities of an organization.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567860-BF18-FF4A-9057-2ECA5F53A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219" y="3903310"/>
            <a:ext cx="3533077" cy="24611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E4086A-6AA0-5D23-46A9-3CA9421A3631}"/>
              </a:ext>
            </a:extLst>
          </p:cNvPr>
          <p:cNvSpPr txBox="1"/>
          <p:nvPr/>
        </p:nvSpPr>
        <p:spPr>
          <a:xfrm>
            <a:off x="7158164" y="4023360"/>
            <a:ext cx="2204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3" action="ppaction://hlinkfile"/>
              </a:rPr>
              <a:t>Relational Database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38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A6D4BE-0B5C-C200-FB1A-FBF45AAD9236}"/>
              </a:ext>
            </a:extLst>
          </p:cNvPr>
          <p:cNvSpPr txBox="1"/>
          <p:nvPr/>
        </p:nvSpPr>
        <p:spPr>
          <a:xfrm>
            <a:off x="1072134" y="672746"/>
            <a:ext cx="9397746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This ability to organize information into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multiple related tables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is fundamental to the relational database model.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endParaRPr lang="en-US" sz="24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relational database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is a collection of related tables. In this example, the database contains the Employee and Department tables, which are related through DepartmentID.</a:t>
            </a:r>
            <a:endParaRPr lang="en-US" sz="16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087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40C9E-4EAE-E426-1DE3-3BE13FBD46B5}"/>
              </a:ext>
            </a:extLst>
          </p:cNvPr>
          <p:cNvSpPr txBox="1"/>
          <p:nvPr/>
        </p:nvSpPr>
        <p:spPr>
          <a:xfrm>
            <a:off x="1017270" y="785525"/>
            <a:ext cx="1017498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What Is a Database Management System (DBMS)?</a:t>
            </a:r>
            <a:endParaRPr lang="en-US" sz="24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contains the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related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endParaRPr lang="en-US" sz="24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Database Management System (DBMS)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is the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software that manages the database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endParaRPr lang="en-US" sz="24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 DBMS is a collection of programs that allows users and applications to create, maintain, retrieve, modify, and control access to a database.</a:t>
            </a:r>
            <a:endParaRPr lang="en-US" sz="24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Examples of DBMS software include MySQL, Microsoft SQL Server, Oracle Database, PostgreSQL, and SQLite.</a:t>
            </a:r>
            <a:endParaRPr lang="en-US" sz="16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057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FD5BAF-2C0C-AD69-DDBA-337290790E43}"/>
              </a:ext>
            </a:extLst>
          </p:cNvPr>
          <p:cNvSpPr txBox="1"/>
          <p:nvPr/>
        </p:nvSpPr>
        <p:spPr>
          <a:xfrm>
            <a:off x="1309878" y="608760"/>
            <a:ext cx="693801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Why Is a DBMS Called a "Collection of Programs"?</a:t>
            </a:r>
            <a:endParaRPr lang="en-US" sz="18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 DBMS performs many different tasks. It is therefore not simply one operation or command.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 DBMS includes software components responsible for activities such as:</a:t>
            </a: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EF644C-37E6-DB2C-74F5-60F0E48AB172}"/>
              </a:ext>
            </a:extLst>
          </p:cNvPr>
          <p:cNvSpPr txBox="1"/>
          <p:nvPr/>
        </p:nvSpPr>
        <p:spPr>
          <a:xfrm>
            <a:off x="1373886" y="2456868"/>
            <a:ext cx="3957066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Creating databases and tables 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Storing data 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Retrieving data 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Updating and deleting data 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Processing queries 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Enforcing constraints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66AB2-F3F3-4921-60FC-9AEFF19B7198}"/>
              </a:ext>
            </a:extLst>
          </p:cNvPr>
          <p:cNvSpPr txBox="1"/>
          <p:nvPr/>
        </p:nvSpPr>
        <p:spPr>
          <a:xfrm>
            <a:off x="6096000" y="2456868"/>
            <a:ext cx="3472434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Managing Relationships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Controlling user access 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Handling multiple users 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Maintaining security 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Managing transactions 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Backup and recovery </a:t>
            </a: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371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6D12D4-3F9D-2DBC-4733-0B15AE4AAA74}"/>
              </a:ext>
            </a:extLst>
          </p:cNvPr>
          <p:cNvSpPr txBox="1"/>
          <p:nvPr/>
        </p:nvSpPr>
        <p:spPr>
          <a:xfrm>
            <a:off x="1126998" y="591470"/>
            <a:ext cx="9278874" cy="3098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When you execute: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SELECT *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FROM Employee;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you are giving an instruction to the </a:t>
            </a:r>
            <a:r>
              <a:rPr lang="en-US" sz="18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DBMS</a:t>
            </a: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The DBMS interprets the SQL statement, determines how to retrieve the requested information, accesses the database, and returns the results.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This leads to an important distinction: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SQL is the language used to communicate with a relational DBMS. The DBMS is the software that actually manages the database.</a:t>
            </a: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361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DD54F8-7832-DA0E-EF20-B778FA916F19}"/>
              </a:ext>
            </a:extLst>
          </p:cNvPr>
          <p:cNvSpPr txBox="1"/>
          <p:nvPr/>
        </p:nvSpPr>
        <p:spPr>
          <a:xfrm>
            <a:off x="591312" y="466519"/>
            <a:ext cx="4703064" cy="6268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Database vs. DBMS vs. Application Program</a:t>
            </a:r>
          </a:p>
          <a:p>
            <a:r>
              <a:rPr lang="en-US" sz="2400"/>
              <a:t>Consider a banking system:</a:t>
            </a:r>
          </a:p>
          <a:p>
            <a:r>
              <a:rPr lang="en-US" sz="2400"/>
              <a:t>An employee in the Loan Department might use a </a:t>
            </a:r>
            <a:r>
              <a:rPr lang="en-US" sz="2400" b="1"/>
              <a:t>loan-processing application</a:t>
            </a:r>
            <a:r>
              <a:rPr lang="en-US" sz="2400"/>
              <a:t>.</a:t>
            </a:r>
          </a:p>
          <a:p>
            <a:r>
              <a:rPr lang="en-US" sz="2400"/>
              <a:t>The application communicates with the </a:t>
            </a:r>
            <a:r>
              <a:rPr lang="en-US" sz="2400" b="1"/>
              <a:t>DBMS</a:t>
            </a:r>
            <a:r>
              <a:rPr lang="en-US" sz="2400"/>
              <a:t>, and the DBMS accesses the </a:t>
            </a:r>
            <a:r>
              <a:rPr lang="en-US" sz="2400" b="1"/>
              <a:t>database</a:t>
            </a:r>
            <a:r>
              <a:rPr lang="en-US" sz="2400"/>
              <a:t>.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endParaRPr lang="en-US" sz="16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/>
              <a:t>The teller does not necessarily interact directly with MySQL or write SQL commands. The </a:t>
            </a:r>
            <a:r>
              <a:rPr lang="en-US" sz="2400" b="1"/>
              <a:t>application program</a:t>
            </a:r>
            <a:r>
              <a:rPr lang="en-US" sz="2400"/>
              <a:t> can send the necessary requests to the DBMS on the user's behalf.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D8795D-BD41-9E36-E523-4E6836CC9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088" y="3429000"/>
            <a:ext cx="5943600" cy="26650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69E38B-7A6C-0D83-BA0F-67925DEA87D2}"/>
              </a:ext>
            </a:extLst>
          </p:cNvPr>
          <p:cNvSpPr txBox="1"/>
          <p:nvPr/>
        </p:nvSpPr>
        <p:spPr>
          <a:xfrm>
            <a:off x="5415534" y="2045131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Different applications can therefore access the </a:t>
            </a:r>
            <a:r>
              <a:rPr lang="en-US" sz="2400" b="1"/>
              <a:t>same shared database</a:t>
            </a:r>
            <a:r>
              <a:rPr lang="en-US" sz="240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34087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414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Symbol</vt:lpstr>
      <vt:lpstr>Office Theme</vt:lpstr>
      <vt:lpstr>Fundamental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Reyes</dc:creator>
  <cp:lastModifiedBy>Joannes Reyes</cp:lastModifiedBy>
  <cp:revision>1</cp:revision>
  <dcterms:created xsi:type="dcterms:W3CDTF">2026-09-02T19:37:24Z</dcterms:created>
  <dcterms:modified xsi:type="dcterms:W3CDTF">2026-09-02T22:08:28Z</dcterms:modified>
</cp:coreProperties>
</file>