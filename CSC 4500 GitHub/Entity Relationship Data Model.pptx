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57" r:id="rId4"/>
    <p:sldId id="265" r:id="rId5"/>
    <p:sldId id="266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2F26A-8AFB-38BB-7C05-5D7EE7637D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3282B6-68F6-C422-AA93-42ECD570E5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BCCE6A-9A27-46E8-FE68-B7BAB4EC8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9B7DE-533C-4D96-8EEF-A12A944B5668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56CF3A-1A08-EEF7-AB52-572B2D308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D1EAEA-E36B-AB10-AA57-1209B8EAC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885E7-0F36-431C-96D4-45D04F33A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269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2F319-66C7-4E25-60AA-392C1D1CC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DB6EF-3686-CB64-120C-BCB83B430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4C23D2-6DDF-FE24-18DE-34ECDED45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9B7DE-533C-4D96-8EEF-A12A944B5668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86F33D-A75B-311F-75C7-D3D93A939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DEA19-A075-1020-C040-14F1C579A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885E7-0F36-431C-96D4-45D04F33A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786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3787C-1C65-AC14-30E7-E165FA96B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36AA02-F858-A1B5-7DCC-F507E2B2A3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BC139-4569-BE68-B0E5-0D0EEBBDF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9B7DE-533C-4D96-8EEF-A12A944B5668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5541F9-30B9-DAAC-169C-65F5211E0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61A70-B952-4B55-F67C-DE0C727AE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885E7-0F36-431C-96D4-45D04F33A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477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CE4A8-4E67-9B87-5A9B-8B96BAAD0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29C65-060F-6B9B-C1EC-22AA5FB511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A01DCA-494A-6C8D-50AE-7D60636484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2A4AD0-6674-0B71-5A97-71BA0F81A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9B7DE-533C-4D96-8EEF-A12A944B5668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232C56-08B9-58AF-18B9-71F6FC5C3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14AB80-6990-5124-3A24-04E054ACB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885E7-0F36-431C-96D4-45D04F33A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690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83317-4341-1F64-9AB7-9B8DF6F96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4BFC19-3265-4E92-7B85-FA6B283CCE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2F368F-4DB6-3817-510D-9B6E1C70B2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A1604C-F9B9-9317-FBFB-355D08F7CC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394FE8-EC08-3BC2-1C9D-790D8D9FCD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9F8E96-32A6-EEEE-976F-179382A00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9B7DE-533C-4D96-8EEF-A12A944B5668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BDC2DB-042E-2355-DAF0-B976FB17B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FD6938-9461-E409-0349-08E5FFE85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885E7-0F36-431C-96D4-45D04F33A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569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15224-4551-7ED8-1D40-A4D1DE8B9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03C4B2-0C17-FFDB-AC7F-D4FC6C07A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9B7DE-533C-4D96-8EEF-A12A944B5668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810441-9CB3-8BE7-CECC-422731DBE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1D6705-C493-7DC5-ADE6-9618C5DE1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885E7-0F36-431C-96D4-45D04F33A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054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386FB6-0E2F-AC65-2B73-271646338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9B7DE-533C-4D96-8EEF-A12A944B5668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690800-49F0-EECF-CE81-3D8D70DD8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133D0E-4470-7E7E-F4D9-C65811003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885E7-0F36-431C-96D4-45D04F33A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272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1734B-66C9-9061-93C5-52722A8AB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0E503-B75C-BCCC-2DCB-39B8D062F1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244AE1-EB6C-A144-9F24-49C86ECEFF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0F425C-AF38-13C8-C439-9D301777A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9B7DE-533C-4D96-8EEF-A12A944B5668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23E18E-BB06-C028-8473-CB2F3EE7D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4CA1AD-8008-A474-8C97-3A481A77D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885E7-0F36-431C-96D4-45D04F33A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986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0D285-A34C-59AF-390F-EECAA227F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16EC25-CCD1-52F5-A94D-50AC732DC4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DC9423-975E-591E-F509-F445832268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7B37FA-067B-4CA2-B1E1-B3F80628E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9B7DE-533C-4D96-8EEF-A12A944B5668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E4DB8F-25A6-A98D-78FB-7B0BC17D3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385B86-4CBD-B8A5-0486-5CD39D27F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885E7-0F36-431C-96D4-45D04F33A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394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C9D88-91CC-70FD-7F4E-E45C42BAA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D290B7-5999-CBA8-293F-4EC11DDB95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5977D-04E5-6B3E-676B-694FCBDBE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9B7DE-533C-4D96-8EEF-A12A944B5668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C373F3-E8B3-27C0-A586-877823D9B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F4DAE2-E6F9-0FA2-6724-B0E25C375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885E7-0F36-431C-96D4-45D04F33A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751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F80784-4BE5-D31F-4B69-1FF28F63A1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7CAA45-C9B8-6B99-2A0C-24EC514DD6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20A76B-8FDC-A250-7F90-F53644737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9B7DE-533C-4D96-8EEF-A12A944B5668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B2230-53BB-57A3-BCBF-CBB32B274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0B7EC-2167-B44D-BF4D-72058B086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885E7-0F36-431C-96D4-45D04F33A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069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3CEB60-1C95-574E-1347-90BC23932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22DCFA-9148-B93D-EBF8-63A5DC954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95689-2956-01EF-5BDA-0005654CEF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C9B7DE-533C-4D96-8EEF-A12A944B5668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F03E5-3DF0-2001-E57E-F06EDF2181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05A53-FEA0-5CCB-7960-19597C45A7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E885E7-0F36-431C-96D4-45D04F33A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216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8C523-8D5E-4FAE-FEB4-64442139F8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Entity Relationship Data Model</a:t>
            </a:r>
          </a:p>
        </p:txBody>
      </p:sp>
    </p:spTree>
    <p:extLst>
      <p:ext uri="{BB962C8B-B14F-4D97-AF65-F5344CB8AC3E}">
        <p14:creationId xmlns:p14="http://schemas.microsoft.com/office/powerpoint/2010/main" val="4274139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22B1FB-5060-27F9-6BB0-BBFF84C01F77}"/>
              </a:ext>
            </a:extLst>
          </p:cNvPr>
          <p:cNvSpPr txBox="1"/>
          <p:nvPr/>
        </p:nvSpPr>
        <p:spPr>
          <a:xfrm>
            <a:off x="904240" y="395238"/>
            <a:ext cx="1065784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/>
              <a:t>Entity-Relationship Data Model</a:t>
            </a:r>
          </a:p>
          <a:p>
            <a:pPr>
              <a:buNone/>
            </a:pPr>
            <a:endParaRPr lang="en-US" sz="2400" b="1"/>
          </a:p>
          <a:p>
            <a:pPr>
              <a:buNone/>
            </a:pPr>
            <a:r>
              <a:rPr lang="en-US" sz="2400"/>
              <a:t>The </a:t>
            </a:r>
            <a:r>
              <a:rPr lang="en-US" sz="2400" b="1"/>
              <a:t>Entity-Relationship (ER) Data Model</a:t>
            </a:r>
            <a:r>
              <a:rPr lang="en-US" sz="2400"/>
              <a:t> is a </a:t>
            </a:r>
            <a:r>
              <a:rPr lang="en-US" sz="2400" b="1"/>
              <a:t>conceptual data model</a:t>
            </a:r>
            <a:r>
              <a:rPr lang="en-US" sz="2400"/>
              <a:t> used to describe the data that an organization needs to store and the relationships among that data. It is commonly used during the </a:t>
            </a:r>
            <a:r>
              <a:rPr lang="en-US" sz="2400" b="1"/>
              <a:t>database design process</a:t>
            </a:r>
            <a:r>
              <a:rPr lang="en-US" sz="2400"/>
              <a:t>, before the data is converted into relational tables.</a:t>
            </a:r>
          </a:p>
          <a:p>
            <a:pPr>
              <a:buNone/>
            </a:pPr>
            <a:endParaRPr lang="en-US" sz="2400"/>
          </a:p>
          <a:p>
            <a:pPr>
              <a:buNone/>
            </a:pPr>
            <a:r>
              <a:rPr lang="en-US" sz="2400"/>
              <a:t>An </a:t>
            </a:r>
            <a:r>
              <a:rPr lang="en-US" sz="2400" b="1"/>
              <a:t>Entity-Relationship Diagram (ERD)</a:t>
            </a:r>
            <a:r>
              <a:rPr lang="en-US" sz="2400"/>
              <a:t> is the </a:t>
            </a:r>
            <a:r>
              <a:rPr lang="en-US" sz="2400" b="1"/>
              <a:t>graphical representation of an Entity-Relationship Data Model</a:t>
            </a:r>
            <a:r>
              <a:rPr lang="en-US" sz="24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57491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694C1E1-D3E3-53A3-3136-A5F4C30F7582}"/>
              </a:ext>
            </a:extLst>
          </p:cNvPr>
          <p:cNvSpPr txBox="1"/>
          <p:nvPr/>
        </p:nvSpPr>
        <p:spPr>
          <a:xfrm>
            <a:off x="724662" y="865555"/>
            <a:ext cx="1059561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/>
              <a:t>Entity Relationship Diagram </a:t>
            </a:r>
            <a:r>
              <a:rPr lang="en-US" sz="2400"/>
              <a:t>- a data model describing the database showing tables, attributes and relationships.</a:t>
            </a:r>
          </a:p>
          <a:p>
            <a:endParaRPr lang="en-US" sz="2400"/>
          </a:p>
          <a:p>
            <a:r>
              <a:rPr lang="en-US" sz="2400"/>
              <a:t>It is commonly used during the </a:t>
            </a:r>
            <a:r>
              <a:rPr lang="en-US" sz="2400" b="1"/>
              <a:t>conceptual design</a:t>
            </a:r>
            <a:r>
              <a:rPr lang="en-US" sz="2400"/>
              <a:t> stage of database development, before the actual tables are created in a DBMS such as MySQL.</a:t>
            </a:r>
          </a:p>
          <a:p>
            <a:endParaRPr lang="en-US" sz="2400"/>
          </a:p>
          <a:p>
            <a:r>
              <a:rPr lang="en-US" sz="2400"/>
              <a:t>An ERD helps database designers answer three basic questions: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b="1"/>
              <a:t>What things do we need to store data about?</a:t>
            </a:r>
            <a:r>
              <a:rPr lang="en-US" sz="2400"/>
              <a:t> — </a:t>
            </a:r>
            <a:r>
              <a:rPr lang="en-US" sz="2400" b="1"/>
              <a:t>Entities</a:t>
            </a:r>
            <a:r>
              <a:rPr lang="en-US" sz="2400"/>
              <a:t>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b="1"/>
              <a:t>What information do we need to store about those things?</a:t>
            </a:r>
            <a:r>
              <a:rPr lang="en-US" sz="2400"/>
              <a:t> — </a:t>
            </a:r>
            <a:r>
              <a:rPr lang="en-US" sz="2400" b="1"/>
              <a:t>Attributes</a:t>
            </a:r>
            <a:r>
              <a:rPr lang="en-US" sz="2400"/>
              <a:t>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b="1"/>
              <a:t>How are those things related to each other?</a:t>
            </a:r>
            <a:r>
              <a:rPr lang="en-US" sz="2400"/>
              <a:t> — </a:t>
            </a:r>
            <a:r>
              <a:rPr lang="en-US" sz="2400" b="1"/>
              <a:t>Relationships</a:t>
            </a:r>
            <a:endParaRPr lang="en-US" sz="2400"/>
          </a:p>
          <a:p>
            <a:endParaRPr lang="en-US" sz="2400"/>
          </a:p>
          <a:p>
            <a:endParaRPr lang="en-US" sz="2400"/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426036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7CF520F-6815-D63E-3CB2-1D8908122D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1950532"/>
              </p:ext>
            </p:extLst>
          </p:nvPr>
        </p:nvGraphicFramePr>
        <p:xfrm>
          <a:off x="1462630" y="1808834"/>
          <a:ext cx="9266739" cy="4384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88913">
                  <a:extLst>
                    <a:ext uri="{9D8B030D-6E8A-4147-A177-3AD203B41FA5}">
                      <a16:colId xmlns:a16="http://schemas.microsoft.com/office/drawing/2014/main" val="3328152733"/>
                    </a:ext>
                  </a:extLst>
                </a:gridCol>
                <a:gridCol w="3088913">
                  <a:extLst>
                    <a:ext uri="{9D8B030D-6E8A-4147-A177-3AD203B41FA5}">
                      <a16:colId xmlns:a16="http://schemas.microsoft.com/office/drawing/2014/main" val="2598806872"/>
                    </a:ext>
                  </a:extLst>
                </a:gridCol>
                <a:gridCol w="3088913">
                  <a:extLst>
                    <a:ext uri="{9D8B030D-6E8A-4147-A177-3AD203B41FA5}">
                      <a16:colId xmlns:a16="http://schemas.microsoft.com/office/drawing/2014/main" val="2407485931"/>
                    </a:ext>
                  </a:extLst>
                </a:gridCol>
              </a:tblGrid>
              <a:tr h="322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ERD Notation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Main Characteristics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Common Use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108226821"/>
                  </a:ext>
                </a:extLst>
              </a:tr>
              <a:tr h="805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Chen Notation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Rectangles for entities, ovals for attributes, diamonds for relationships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Teaching and conceptual database design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49834253"/>
                  </a:ext>
                </a:extLst>
              </a:tr>
              <a:tr h="805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Crow's Foot Notation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Entities shown as table-like boxes; relationship lines use "crow's feet" to indicate many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Very common in practical database design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1939790058"/>
                  </a:ext>
                </a:extLst>
              </a:tr>
              <a:tr h="805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UML Class Diagram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Classes/entities shown as boxes with attributes; multiplicities such as 1, 0..*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Software engineering and object-oriented design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3956704932"/>
                  </a:ext>
                </a:extLst>
              </a:tr>
              <a:tr h="805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IDEF1X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Detailed notation emphasizing primary keys, foreign keys, and identifying relationships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Enterprise and technical database modeling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2697980167"/>
                  </a:ext>
                </a:extLst>
              </a:tr>
              <a:tr h="805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Barker Notation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Similar to Crow's Foot; uses lines and symbols for optionality and cardinality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Historically associated with Oracle modeling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65882031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E46E88B-32AF-0621-CD6E-F9A664CEE87F}"/>
              </a:ext>
            </a:extLst>
          </p:cNvPr>
          <p:cNvSpPr txBox="1"/>
          <p:nvPr/>
        </p:nvSpPr>
        <p:spPr>
          <a:xfrm>
            <a:off x="999362" y="540421"/>
            <a:ext cx="1038301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/>
              <a:t>Different </a:t>
            </a:r>
            <a:r>
              <a:rPr lang="en-US" sz="2400" b="1"/>
              <a:t>notations/styles used to draw Entity-Relationship Diagrams</a:t>
            </a:r>
            <a:r>
              <a:rPr lang="en-US" sz="2400"/>
              <a:t>, the most common are:</a:t>
            </a:r>
          </a:p>
        </p:txBody>
      </p:sp>
    </p:spTree>
    <p:extLst>
      <p:ext uri="{BB962C8B-B14F-4D97-AF65-F5344CB8AC3E}">
        <p14:creationId xmlns:p14="http://schemas.microsoft.com/office/powerpoint/2010/main" val="2943398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327424-863D-E8BF-F321-E8BA3095ED42}"/>
              </a:ext>
            </a:extLst>
          </p:cNvPr>
          <p:cNvSpPr txBox="1"/>
          <p:nvPr/>
        </p:nvSpPr>
        <p:spPr>
          <a:xfrm>
            <a:off x="1100328" y="1601866"/>
            <a:ext cx="9616440" cy="2513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400" b="1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Chen Notation ERD (Entity-Relationship Diagram)</a:t>
            </a:r>
            <a:r>
              <a:rPr lang="en-US" sz="24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is a graphical method used to </a:t>
            </a:r>
            <a:r>
              <a:rPr lang="en-US" sz="2400" b="1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design and represent the structure of a database</a:t>
            </a:r>
            <a:r>
              <a:rPr lang="en-US" sz="24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4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4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It was introduced by computer scientist </a:t>
            </a:r>
            <a:r>
              <a:rPr lang="en-US" sz="2400" b="1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Peter Chen in 1976</a:t>
            </a:r>
            <a:r>
              <a:rPr lang="en-US" sz="24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. Chen notation shows the </a:t>
            </a:r>
            <a:r>
              <a:rPr lang="en-US" sz="2400" b="1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entities</a:t>
            </a:r>
            <a:r>
              <a:rPr lang="en-US" sz="24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in a database, their </a:t>
            </a:r>
            <a:r>
              <a:rPr lang="en-US" sz="2400" b="1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attributes</a:t>
            </a:r>
            <a:r>
              <a:rPr lang="en-US" sz="24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, and the </a:t>
            </a:r>
            <a:r>
              <a:rPr lang="en-US" sz="2400" b="1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relationships</a:t>
            </a:r>
            <a:r>
              <a:rPr lang="en-US" sz="24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between those entities.</a:t>
            </a:r>
            <a:endParaRPr lang="en-US" sz="16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9340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3FF9B7-F126-A171-366A-E1580513AC4E}"/>
              </a:ext>
            </a:extLst>
          </p:cNvPr>
          <p:cNvSpPr txBox="1"/>
          <p:nvPr/>
        </p:nvSpPr>
        <p:spPr>
          <a:xfrm>
            <a:off x="852678" y="533460"/>
            <a:ext cx="1057732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/>
              <a:t>Entities</a:t>
            </a:r>
          </a:p>
          <a:p>
            <a:pPr>
              <a:buNone/>
            </a:pPr>
            <a:r>
              <a:rPr lang="en-US" sz="2400"/>
              <a:t>An </a:t>
            </a:r>
            <a:r>
              <a:rPr lang="en-US" sz="2400" b="1"/>
              <a:t>entity</a:t>
            </a:r>
            <a:r>
              <a:rPr lang="en-US" sz="2400"/>
              <a:t> represents a person, place, object, event, or concept about which the database needs to store information.</a:t>
            </a:r>
          </a:p>
          <a:p>
            <a:pPr>
              <a:buNone/>
            </a:pPr>
            <a:r>
              <a:rPr lang="en-US" sz="2400"/>
              <a:t>Examples include: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/>
              <a:t>Employee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/>
              <a:t>Department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/>
              <a:t>Student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/>
              <a:t>Course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/>
              <a:t>Customer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/>
              <a:t>Product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/>
          </a:p>
          <a:p>
            <a:pPr lvl="0"/>
            <a:r>
              <a:rPr lang="en-US" sz="2400"/>
              <a:t>In </a:t>
            </a:r>
            <a:r>
              <a:rPr lang="en-US" sz="2400" b="1"/>
              <a:t>Chen notation</a:t>
            </a:r>
            <a:r>
              <a:rPr lang="en-US" sz="2400"/>
              <a:t>, an entity is represented by a </a:t>
            </a:r>
            <a:r>
              <a:rPr lang="en-US" sz="2400" b="1"/>
              <a:t>rectangle</a:t>
            </a:r>
            <a:r>
              <a:rPr lang="en-US" sz="240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14B292-6639-ECBD-B9AD-C0A0E8EE5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4593" y="5214263"/>
            <a:ext cx="2702119" cy="1110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747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45329C-BBC4-08C0-3342-C350D7CFA3AF}"/>
              </a:ext>
            </a:extLst>
          </p:cNvPr>
          <p:cNvSpPr txBox="1"/>
          <p:nvPr/>
        </p:nvSpPr>
        <p:spPr>
          <a:xfrm>
            <a:off x="733806" y="547729"/>
            <a:ext cx="10970514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/>
              <a:t>Attributes</a:t>
            </a:r>
          </a:p>
          <a:p>
            <a:pPr>
              <a:buNone/>
            </a:pPr>
            <a:r>
              <a:rPr lang="en-US" sz="2400"/>
              <a:t>An </a:t>
            </a:r>
            <a:r>
              <a:rPr lang="en-US" sz="2400" b="1"/>
              <a:t>attribute</a:t>
            </a:r>
            <a:r>
              <a:rPr lang="en-US" sz="2400"/>
              <a:t> describes a characteristic or property of an entity.</a:t>
            </a:r>
          </a:p>
          <a:p>
            <a:pPr>
              <a:buNone/>
            </a:pPr>
            <a:r>
              <a:rPr lang="en-US" sz="2400"/>
              <a:t>For example, the EMPLOYEE entity might have: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US" sz="2400">
                <a:latin typeface="+mn-lt"/>
              </a:rPr>
              <a:t>EmployeeID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US" sz="2400">
                <a:latin typeface="+mn-lt"/>
              </a:rPr>
              <a:t>FirstName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US" sz="2400">
                <a:latin typeface="+mn-lt"/>
              </a:rPr>
              <a:t>LastName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US" sz="2400">
                <a:latin typeface="+mn-lt"/>
              </a:rPr>
              <a:t>Phone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US" sz="2400">
                <a:latin typeface="+mn-lt"/>
              </a:rPr>
              <a:t>Address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n-US" sz="2400">
              <a:latin typeface="+mn-lt"/>
            </a:endParaRPr>
          </a:p>
          <a:p>
            <a:pPr>
              <a:buNone/>
            </a:pPr>
            <a:r>
              <a:rPr lang="en-US" sz="2400"/>
              <a:t>In Chen notation, attributes are represented by </a:t>
            </a:r>
            <a:r>
              <a:rPr lang="en-US" sz="2400" b="1"/>
              <a:t>ovals</a:t>
            </a:r>
            <a:r>
              <a:rPr lang="en-US" sz="2400"/>
              <a:t> connected to their entity.</a:t>
            </a:r>
          </a:p>
          <a:p>
            <a:pPr>
              <a:buNone/>
            </a:pPr>
            <a:endParaRPr lang="en-US" sz="2400"/>
          </a:p>
          <a:p>
            <a:pPr>
              <a:buNone/>
            </a:pPr>
            <a:r>
              <a:rPr lang="en-US" sz="2400"/>
              <a:t>Different types of attributes can also be represented, such as </a:t>
            </a:r>
            <a:r>
              <a:rPr lang="en-US" sz="2400" b="1"/>
              <a:t>key attributes</a:t>
            </a:r>
            <a:r>
              <a:rPr lang="en-US" sz="2400"/>
              <a:t>, </a:t>
            </a:r>
            <a:r>
              <a:rPr lang="en-US" sz="2400" b="1"/>
              <a:t>composite attributes</a:t>
            </a:r>
            <a:r>
              <a:rPr lang="en-US" sz="2400"/>
              <a:t>, </a:t>
            </a:r>
            <a:r>
              <a:rPr lang="en-US" sz="2400" b="1"/>
              <a:t>multivalued attributes</a:t>
            </a:r>
            <a:r>
              <a:rPr lang="en-US" sz="2400"/>
              <a:t>, and </a:t>
            </a:r>
            <a:r>
              <a:rPr lang="en-US" sz="2400" b="1"/>
              <a:t>derived attributes</a:t>
            </a:r>
            <a:r>
              <a:rPr lang="en-US" sz="240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8EF4AEC-530B-7197-1DC8-D007033963A2}"/>
              </a:ext>
            </a:extLst>
          </p:cNvPr>
          <p:cNvGrpSpPr/>
          <p:nvPr/>
        </p:nvGrpSpPr>
        <p:grpSpPr>
          <a:xfrm>
            <a:off x="4545988" y="1807008"/>
            <a:ext cx="5155796" cy="1967335"/>
            <a:chOff x="4545988" y="1807008"/>
            <a:chExt cx="5155796" cy="196733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7FBE27B-B005-7D1C-6C40-9FAAA0DC3D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45988" y="1807008"/>
              <a:ext cx="2757782" cy="1967335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152CDDB-7278-D02D-536A-34A82F0998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58373" y="1807008"/>
              <a:ext cx="2243411" cy="4540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28638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01DAAE-2B06-7F4E-EEEA-2186790321CA}"/>
              </a:ext>
            </a:extLst>
          </p:cNvPr>
          <p:cNvSpPr txBox="1"/>
          <p:nvPr/>
        </p:nvSpPr>
        <p:spPr>
          <a:xfrm>
            <a:off x="752094" y="622452"/>
            <a:ext cx="1025728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/>
              <a:t>Relationships</a:t>
            </a:r>
          </a:p>
          <a:p>
            <a:pPr>
              <a:buNone/>
            </a:pPr>
            <a:r>
              <a:rPr lang="en-US" sz="2400"/>
              <a:t>A </a:t>
            </a:r>
            <a:r>
              <a:rPr lang="en-US" sz="2400" b="1"/>
              <a:t>relationship</a:t>
            </a:r>
            <a:r>
              <a:rPr lang="en-US" sz="2400"/>
              <a:t> describes an association between entities.</a:t>
            </a:r>
          </a:p>
          <a:p>
            <a:pPr>
              <a:buNone/>
            </a:pPr>
            <a:endParaRPr lang="en-US" sz="2400"/>
          </a:p>
          <a:p>
            <a:pPr>
              <a:buNone/>
            </a:pPr>
            <a:r>
              <a:rPr lang="en-US" sz="2400"/>
              <a:t>For example:</a:t>
            </a:r>
          </a:p>
          <a:p>
            <a:pPr>
              <a:buNone/>
            </a:pPr>
            <a:r>
              <a:rPr lang="en-US" sz="2400"/>
              <a:t>An EMPLOYEE </a:t>
            </a:r>
            <a:r>
              <a:rPr lang="en-US" sz="2400" b="1"/>
              <a:t>WORKS_FOR</a:t>
            </a:r>
            <a:r>
              <a:rPr lang="en-US" sz="2400"/>
              <a:t> a DEPARTMENT.</a:t>
            </a:r>
          </a:p>
          <a:p>
            <a:pPr>
              <a:buNone/>
            </a:pPr>
            <a:endParaRPr lang="en-US" sz="2400"/>
          </a:p>
          <a:p>
            <a:pPr>
              <a:buNone/>
            </a:pPr>
            <a:r>
              <a:rPr lang="en-US" sz="2400"/>
              <a:t>In Chen notation, the relationship is represented by a </a:t>
            </a:r>
            <a:r>
              <a:rPr lang="en-US" sz="2400" b="1"/>
              <a:t>diamond</a:t>
            </a:r>
            <a:r>
              <a:rPr lang="en-US" sz="2400"/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C14A80-2DAC-08EF-C9E4-74333DBF2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5388" y="3829001"/>
            <a:ext cx="3336619" cy="1602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965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0604A2-5984-71CA-61B4-359E10E9CBA7}"/>
              </a:ext>
            </a:extLst>
          </p:cNvPr>
          <p:cNvSpPr txBox="1"/>
          <p:nvPr/>
        </p:nvSpPr>
        <p:spPr>
          <a:xfrm>
            <a:off x="678942" y="402765"/>
            <a:ext cx="1045845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/>
              <a:t>Cardinality</a:t>
            </a:r>
          </a:p>
          <a:p>
            <a:pPr>
              <a:buNone/>
            </a:pPr>
            <a:r>
              <a:rPr lang="en-US" sz="2400"/>
              <a:t>An ERD can also specify </a:t>
            </a:r>
            <a:r>
              <a:rPr lang="en-US" sz="2400" b="1"/>
              <a:t>cardinality</a:t>
            </a:r>
            <a:r>
              <a:rPr lang="en-US" sz="2400"/>
              <a:t>, which describes how many instances of one entity can be associated with instances of another entity.</a:t>
            </a:r>
          </a:p>
          <a:p>
            <a:pPr>
              <a:buNone/>
            </a:pPr>
            <a:endParaRPr lang="en-US" sz="2400"/>
          </a:p>
          <a:p>
            <a:pPr>
              <a:buNone/>
            </a:pPr>
            <a:r>
              <a:rPr lang="en-US" sz="2400"/>
              <a:t>For example:</a:t>
            </a:r>
          </a:p>
          <a:p>
            <a:pPr rtl="0">
              <a:buNone/>
            </a:pPr>
            <a:r>
              <a:rPr lang="en-US" sz="2400">
                <a:latin typeface="+mn-lt"/>
              </a:rPr>
              <a:t>EMPLOYEE ── N ── ◇ WORKS_FOR ◇ ── 1 ── DEPARTMENT</a:t>
            </a:r>
          </a:p>
          <a:p>
            <a:pPr>
              <a:buNone/>
            </a:pPr>
            <a:r>
              <a:rPr lang="en-US" sz="2400"/>
              <a:t>This represents a </a:t>
            </a:r>
            <a:r>
              <a:rPr lang="en-US" sz="2400" b="1"/>
              <a:t>many-to-one relationship</a:t>
            </a:r>
            <a:r>
              <a:rPr lang="en-US" sz="2400"/>
              <a:t>:</a:t>
            </a:r>
          </a:p>
          <a:p>
            <a:pPr>
              <a:buNone/>
            </a:pPr>
            <a:r>
              <a:rPr lang="en-US" sz="2400"/>
              <a:t>Many employees can work for one department.</a:t>
            </a:r>
          </a:p>
          <a:p>
            <a:pPr>
              <a:buNone/>
            </a:pPr>
            <a:endParaRPr lang="en-US" sz="2400"/>
          </a:p>
          <a:p>
            <a:pPr>
              <a:buNone/>
            </a:pPr>
            <a:r>
              <a:rPr lang="en-US" sz="2400"/>
              <a:t>Common cardinalities include: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/>
              <a:t>1:1</a:t>
            </a:r>
            <a:r>
              <a:rPr lang="en-US" sz="2400"/>
              <a:t> — One-to-One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/>
              <a:t>1:N</a:t>
            </a:r>
            <a:r>
              <a:rPr lang="en-US" sz="2400"/>
              <a:t> — One-to-Many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/>
              <a:t>M:N</a:t>
            </a:r>
            <a:r>
              <a:rPr lang="en-US" sz="2400"/>
              <a:t> — Many-to-Many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B1533F-5A08-8CB4-9E05-1712CA45F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4835" y="4462232"/>
            <a:ext cx="5822185" cy="91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198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ACF04A-B16C-B224-EE68-213A00DFB8E2}"/>
              </a:ext>
            </a:extLst>
          </p:cNvPr>
          <p:cNvSpPr txBox="1"/>
          <p:nvPr/>
        </p:nvSpPr>
        <p:spPr>
          <a:xfrm>
            <a:off x="788670" y="627578"/>
            <a:ext cx="1072362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/>
              <a:t>Participation</a:t>
            </a:r>
          </a:p>
          <a:p>
            <a:pPr>
              <a:buNone/>
            </a:pPr>
            <a:r>
              <a:rPr lang="en-US" sz="2400"/>
              <a:t>ERDs can also indicate whether participation in a relationship is </a:t>
            </a:r>
            <a:r>
              <a:rPr lang="en-US" sz="2400" b="1"/>
              <a:t>required or optional</a:t>
            </a:r>
            <a:r>
              <a:rPr lang="en-US" sz="2400"/>
              <a:t>.</a:t>
            </a:r>
          </a:p>
          <a:p>
            <a:pPr>
              <a:buNone/>
            </a:pPr>
            <a:endParaRPr lang="en-US" sz="2400"/>
          </a:p>
          <a:p>
            <a:pPr>
              <a:buNone/>
            </a:pPr>
            <a:r>
              <a:rPr lang="en-US" sz="2400"/>
              <a:t>In traditional Chen notation: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/>
              <a:t>Single line</a:t>
            </a:r>
            <a:r>
              <a:rPr lang="en-US" sz="2400"/>
              <a:t> → Partial participation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/>
              <a:t>Double line</a:t>
            </a:r>
            <a:r>
              <a:rPr lang="en-US" sz="2400"/>
              <a:t> → Total participation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/>
          </a:p>
          <a:p>
            <a:pPr>
              <a:buNone/>
            </a:pPr>
            <a:r>
              <a:rPr lang="en-US" sz="2400"/>
              <a:t>For example, if every employee is required to belong to a department, EMPLOYEE would have </a:t>
            </a:r>
            <a:r>
              <a:rPr lang="en-US" sz="2400" b="1"/>
              <a:t>total participation</a:t>
            </a:r>
            <a:r>
              <a:rPr lang="en-US" sz="2400"/>
              <a:t> in the WORKS_FOR relationship.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6DD167-5862-9D95-74E1-C7DC8641C6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7257" y="5019635"/>
            <a:ext cx="5822185" cy="91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775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062AF3-C24E-58F3-54B1-474A7F5CA7A6}"/>
              </a:ext>
            </a:extLst>
          </p:cNvPr>
          <p:cNvSpPr txBox="1"/>
          <p:nvPr/>
        </p:nvSpPr>
        <p:spPr>
          <a:xfrm>
            <a:off x="704088" y="792581"/>
            <a:ext cx="1108252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/>
              <a:t>Why ERDs Are Important</a:t>
            </a:r>
          </a:p>
          <a:p>
            <a:pPr>
              <a:buNone/>
            </a:pPr>
            <a:endParaRPr lang="en-US" sz="2400" b="1"/>
          </a:p>
          <a:p>
            <a:pPr>
              <a:buNone/>
            </a:pPr>
            <a:r>
              <a:rPr lang="en-US" sz="2400"/>
              <a:t>An ERD allows a database designer to plan the structure of a database </a:t>
            </a:r>
            <a:r>
              <a:rPr lang="en-US" sz="2400" b="1"/>
              <a:t>before creating the actual tables</a:t>
            </a:r>
            <a:r>
              <a:rPr lang="en-US" sz="2400"/>
              <a:t>. It can help identify missing data, unnecessary duplication, incorrect relationships, and important business rules early in the design process.</a:t>
            </a:r>
          </a:p>
          <a:p>
            <a:pPr>
              <a:buNone/>
            </a:pPr>
            <a:endParaRPr lang="en-US" sz="2400"/>
          </a:p>
          <a:p>
            <a:pPr>
              <a:buNone/>
            </a:pPr>
            <a:r>
              <a:rPr lang="en-US" sz="2400"/>
              <a:t>Once the ERD has been completed, it can be converted into a </a:t>
            </a:r>
            <a:r>
              <a:rPr lang="en-US" sz="2400" b="1"/>
              <a:t>relational schema</a:t>
            </a:r>
            <a:r>
              <a:rPr lang="en-US" sz="2400"/>
              <a:t>, which can then be implemented as tables using SQL.</a:t>
            </a:r>
          </a:p>
          <a:p>
            <a:pPr>
              <a:buNone/>
            </a:pPr>
            <a:r>
              <a:rPr lang="en-US" sz="2400"/>
              <a:t>A useful way to think about the process is:</a:t>
            </a:r>
          </a:p>
          <a:p>
            <a:pPr>
              <a:buNone/>
            </a:pPr>
            <a:endParaRPr lang="en-US" sz="2400"/>
          </a:p>
          <a:p>
            <a:pPr>
              <a:buNone/>
            </a:pPr>
            <a:r>
              <a:rPr lang="en-US" sz="2400" b="1"/>
              <a:t>Business Requirements → ERD → Relational Schema → SQL Tables → Database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9029600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4909B3-3EE4-9CF1-0486-BE6F7AAF2CDF}"/>
              </a:ext>
            </a:extLst>
          </p:cNvPr>
          <p:cNvSpPr txBox="1"/>
          <p:nvPr/>
        </p:nvSpPr>
        <p:spPr>
          <a:xfrm>
            <a:off x="1218438" y="489734"/>
            <a:ext cx="7687818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/>
              <a:t>For example:</a:t>
            </a:r>
          </a:p>
          <a:p>
            <a:pPr>
              <a:buNone/>
            </a:pPr>
            <a:endParaRPr lang="en-US" sz="2400"/>
          </a:p>
          <a:p>
            <a:pPr rtl="0">
              <a:buNone/>
            </a:pPr>
            <a:r>
              <a:rPr lang="en-US" sz="1600">
                <a:latin typeface="+mn-lt"/>
              </a:rPr>
              <a:t>Conceptual ERD:</a:t>
            </a:r>
          </a:p>
          <a:p>
            <a:pPr rtl="0">
              <a:buNone/>
            </a:pPr>
            <a:r>
              <a:rPr lang="en-US" sz="1600">
                <a:latin typeface="+mn-lt"/>
              </a:rPr>
              <a:t>EMPLOYEE ── N ── WORKS_FOR ── 1 ── DEPARTMENT</a:t>
            </a:r>
          </a:p>
          <a:p>
            <a:pPr rtl="0">
              <a:buNone/>
            </a:pPr>
            <a:endParaRPr lang="en-US" sz="1600">
              <a:latin typeface="+mn-lt"/>
            </a:endParaRPr>
          </a:p>
          <a:p>
            <a:pPr rtl="0">
              <a:buNone/>
            </a:pPr>
            <a:r>
              <a:rPr lang="en-US" sz="1600">
                <a:latin typeface="+mn-lt"/>
              </a:rPr>
              <a:t>                 ↓</a:t>
            </a:r>
          </a:p>
          <a:p>
            <a:pPr rtl="0">
              <a:buNone/>
            </a:pPr>
            <a:endParaRPr lang="en-US" sz="1600">
              <a:latin typeface="+mn-lt"/>
            </a:endParaRPr>
          </a:p>
          <a:p>
            <a:pPr rtl="0">
              <a:buNone/>
            </a:pPr>
            <a:r>
              <a:rPr lang="en-US" sz="1600">
                <a:latin typeface="+mn-lt"/>
              </a:rPr>
              <a:t>Relational Schema:</a:t>
            </a:r>
          </a:p>
          <a:p>
            <a:pPr rtl="0">
              <a:buNone/>
            </a:pPr>
            <a:endParaRPr lang="en-US" sz="1600">
              <a:latin typeface="+mn-lt"/>
            </a:endParaRPr>
          </a:p>
          <a:p>
            <a:pPr rtl="0">
              <a:buNone/>
            </a:pPr>
            <a:r>
              <a:rPr lang="en-US" sz="1600">
                <a:latin typeface="+mn-lt"/>
              </a:rPr>
              <a:t>EMPLOYEE</a:t>
            </a:r>
          </a:p>
          <a:p>
            <a:pPr rtl="0">
              <a:buNone/>
            </a:pPr>
            <a:r>
              <a:rPr lang="en-US" sz="1600">
                <a:latin typeface="+mn-lt"/>
              </a:rPr>
              <a:t>EmployeeID (PK)</a:t>
            </a:r>
          </a:p>
          <a:p>
            <a:pPr rtl="0">
              <a:buNone/>
            </a:pPr>
            <a:r>
              <a:rPr lang="en-US" sz="1600">
                <a:latin typeface="+mn-lt"/>
              </a:rPr>
              <a:t>FirstName</a:t>
            </a:r>
          </a:p>
          <a:p>
            <a:pPr rtl="0">
              <a:buNone/>
            </a:pPr>
            <a:r>
              <a:rPr lang="en-US" sz="1600">
                <a:latin typeface="+mn-lt"/>
              </a:rPr>
              <a:t>LastName</a:t>
            </a:r>
          </a:p>
          <a:p>
            <a:pPr rtl="0">
              <a:buNone/>
            </a:pPr>
            <a:r>
              <a:rPr lang="en-US" sz="1600">
                <a:latin typeface="+mn-lt"/>
              </a:rPr>
              <a:t>Phone</a:t>
            </a:r>
          </a:p>
          <a:p>
            <a:pPr rtl="0">
              <a:buNone/>
            </a:pPr>
            <a:r>
              <a:rPr lang="en-US" sz="1600">
                <a:latin typeface="+mn-lt"/>
              </a:rPr>
              <a:t>DepartmentID (FK)</a:t>
            </a:r>
          </a:p>
          <a:p>
            <a:pPr rtl="0">
              <a:buNone/>
            </a:pPr>
            <a:endParaRPr lang="en-US" sz="1600">
              <a:latin typeface="+mn-lt"/>
            </a:endParaRPr>
          </a:p>
          <a:p>
            <a:pPr rtl="0">
              <a:buNone/>
            </a:pPr>
            <a:r>
              <a:rPr lang="en-US" sz="1600">
                <a:latin typeface="+mn-lt"/>
              </a:rPr>
              <a:t>DEPARTMENT</a:t>
            </a:r>
          </a:p>
          <a:p>
            <a:pPr rtl="0">
              <a:buNone/>
            </a:pPr>
            <a:r>
              <a:rPr lang="en-US" sz="1600">
                <a:latin typeface="+mn-lt"/>
              </a:rPr>
              <a:t>DepartmentID (PK)</a:t>
            </a:r>
          </a:p>
          <a:p>
            <a:pPr rtl="0">
              <a:buNone/>
            </a:pPr>
            <a:r>
              <a:rPr lang="en-US" sz="1600">
                <a:latin typeface="+mn-lt"/>
              </a:rPr>
              <a:t>DepartmentName</a:t>
            </a:r>
          </a:p>
          <a:p>
            <a:pPr rtl="0">
              <a:buNone/>
            </a:pPr>
            <a:endParaRPr lang="en-US" sz="1600">
              <a:latin typeface="+mn-lt"/>
            </a:endParaRPr>
          </a:p>
          <a:p>
            <a:pPr rtl="0">
              <a:buNone/>
            </a:pPr>
            <a:r>
              <a:rPr lang="en-US" sz="1600">
                <a:latin typeface="+mn-lt"/>
              </a:rPr>
              <a:t>                 ↓</a:t>
            </a:r>
          </a:p>
          <a:p>
            <a:pPr rtl="0">
              <a:buNone/>
            </a:pPr>
            <a:endParaRPr lang="en-US" sz="1600">
              <a:latin typeface="+mn-lt"/>
            </a:endParaRPr>
          </a:p>
          <a:p>
            <a:pPr rtl="0">
              <a:buNone/>
            </a:pPr>
            <a:r>
              <a:rPr lang="en-US" sz="1600">
                <a:latin typeface="+mn-lt"/>
              </a:rPr>
              <a:t>SQL / MySQL Database</a:t>
            </a:r>
            <a:endParaRPr lang="en-US" sz="160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6325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749</Words>
  <Application>Microsoft Office PowerPoint</Application>
  <PresentationFormat>Widescreen</PresentationFormat>
  <Paragraphs>118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Courier New</vt:lpstr>
      <vt:lpstr>Office Theme</vt:lpstr>
      <vt:lpstr>Entity Relationship Data 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Reyes</dc:creator>
  <cp:lastModifiedBy>Joannes Reyes</cp:lastModifiedBy>
  <cp:revision>13</cp:revision>
  <dcterms:created xsi:type="dcterms:W3CDTF">2026-09-02T14:44:41Z</dcterms:created>
  <dcterms:modified xsi:type="dcterms:W3CDTF">2026-09-03T03:50:34Z</dcterms:modified>
</cp:coreProperties>
</file>