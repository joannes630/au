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78" r:id="rId4"/>
    <p:sldId id="261" r:id="rId5"/>
    <p:sldId id="271" r:id="rId6"/>
    <p:sldId id="276" r:id="rId7"/>
    <p:sldId id="277" r:id="rId8"/>
    <p:sldId id="264" r:id="rId9"/>
    <p:sldId id="268" r:id="rId10"/>
    <p:sldId id="280" r:id="rId11"/>
    <p:sldId id="281" r:id="rId12"/>
    <p:sldId id="266" r:id="rId13"/>
    <p:sldId id="274" r:id="rId14"/>
    <p:sldId id="282" r:id="rId15"/>
    <p:sldId id="269" r:id="rId16"/>
    <p:sldId id="270" r:id="rId17"/>
    <p:sldId id="273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86BA10-C6DF-4966-AF91-6394B2EC37A0}" v="2" dt="2026-08-19T03:37:29.7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4" d="100"/>
          <a:sy n="104" d="100"/>
        </p:scale>
        <p:origin x="870" y="120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nnes Reyes" userId="c20a8a02-b4fe-42f6-8098-28f80703c1a5" providerId="ADAL" clId="{CACF7B39-15D8-4AB0-B094-4E7549337A18}"/>
    <pc:docChg chg="undo custSel addSld delSld modSld sldOrd modMainMaster">
      <pc:chgData name="Joannes Reyes" userId="c20a8a02-b4fe-42f6-8098-28f80703c1a5" providerId="ADAL" clId="{CACF7B39-15D8-4AB0-B094-4E7549337A18}" dt="2026-08-19T03:37:29.759" v="1924"/>
      <pc:docMkLst>
        <pc:docMk/>
      </pc:docMkLst>
      <pc:sldChg chg="modAnim">
        <pc:chgData name="Joannes Reyes" userId="c20a8a02-b4fe-42f6-8098-28f80703c1a5" providerId="ADAL" clId="{CACF7B39-15D8-4AB0-B094-4E7549337A18}" dt="2026-08-19T03:37:29.759" v="1924"/>
        <pc:sldMkLst>
          <pc:docMk/>
          <pc:sldMk cId="2987229753" sldId="261"/>
        </pc:sldMkLst>
      </pc:sldChg>
      <pc:sldChg chg="addSp delSp modSp new del mod ord modAnim">
        <pc:chgData name="Joannes Reyes" userId="c20a8a02-b4fe-42f6-8098-28f80703c1a5" providerId="ADAL" clId="{CACF7B39-15D8-4AB0-B094-4E7549337A18}" dt="2026-08-19T03:37:11.302" v="1922" actId="47"/>
        <pc:sldMkLst>
          <pc:docMk/>
          <pc:sldMk cId="2695608660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208F1-BC73-48ED-0958-AA28F7CBA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9E25F-7254-9B64-525C-77FA563380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08A92-E100-4DDF-032C-5DF34CD31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2B4BF-9AC2-42E7-6DE6-9425718C6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F0B28-14B1-048A-1BE3-424BE5F7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184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3FF10-D582-03EF-CB77-A20E4FD58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177A0-F0E1-8E37-FD3C-10FC4242E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0D15A-5925-FE8C-15AF-06447EF3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28334-C209-95DB-6EE0-4BB33AC31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1506C-B586-B662-2CB3-50F379F69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94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177A0-F0E1-8E37-FD3C-10FC4242E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5825"/>
            <a:ext cx="10515600" cy="5511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0D15A-5925-FE8C-15AF-06447EF3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28334-C209-95DB-6EE0-4BB33AC31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1506C-B586-B662-2CB3-50F379F69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2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5B7C2-A283-3D9C-FF03-48B8EAB22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C4A57-61C9-A37A-FB50-AA881C432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43531-B876-9C44-4AD9-7BDC6E14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BBB13-03CB-7D57-30CF-09CA9660A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2DCF8-F83A-A355-ABFF-FEABC901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35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24715-6CE2-8AC5-DD8C-EC3AE2B6E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9F5A1-600A-B00D-70E1-A833D80F7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C09B4-E423-92C0-4AFB-EA3E02199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18742-E4A3-104F-A8CD-F88657E80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D8FD5-4260-619E-0C10-AEE8F39AE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9F645-16BB-FD56-0153-5EAC85823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29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3082F-1F9A-6D05-229E-8D136CA51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6B05B-4684-C5C4-DE1C-238CD6742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8FB47-A4C0-208F-4870-C0974ADB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28E746-E024-183D-CC26-83D045EF2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034430-BA8C-B9F6-1EC8-B2D54299A5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06B896-9A04-23D3-C47B-9C6E229FD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88943E-C046-2A02-B30C-D5FB294E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FCB47-6F48-0D48-E75B-D9688D79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55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C698-5432-A163-C5F5-D7996A172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F7B5DD-25B6-33A9-D7A9-283455F1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9789-0EA3-F04F-0778-D4A00E364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23E6F2-F339-85AC-025A-CE585748B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C82E81-E370-C5E8-89C6-B59639E31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030B96-0AA7-E613-A3E3-EC7B0B71C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F01D8-02D1-0358-2E34-0D75337E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841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877B6-577B-44CD-EEE6-C2E61AEE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84384-8A99-2E19-C227-E0946ACA1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0FACF-4DC4-65C7-7A02-FF7A8090F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679DF-3AF4-FED8-660F-213CBD57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B5814-4768-6749-365E-C17D23038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199DB-20C7-17B5-3B6D-8EF178DA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777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71457-FB68-0D62-7650-7A9F0CECE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BF3058-20E8-5B05-F495-4BE90C25F3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7914F-B4C1-6B04-25A5-97988472C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13F3E-5442-9072-E67C-A6432209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CBBFC-2226-F85F-3356-29389B5D6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E7B18-D7A1-FF66-F8ED-59497AAB0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723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613B-92C8-3145-E43D-FD8B5D060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B68BB0-739E-5A42-0876-F3D326637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E8718-7345-2605-C628-8133934C7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504A4-C9A3-1086-D3F0-C44BF6374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F80B7-3DB2-BB57-BE04-A68546991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135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835FE6-CD52-1802-9905-ED39DA3CC4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AAEFC-949D-6C83-3CCC-BE4D301D8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97901-E646-960C-9A9E-194CA4567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24B2-F83A-79B3-4684-DDE6AB80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34DDA-1F04-8070-7FEA-54837A6B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79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71FC09-6C5A-9F83-DF28-067D2ABF2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AAC2C-71F6-DBB3-F636-05760D7D6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FB277-311E-5D35-62D2-F157B40A8A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43B82-94BD-4788-8643-3990262CC9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EFCE5-BDD9-D5CC-0800-5C91D059A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68B2B-85C5-D0B6-D6D8-352A5BCE5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0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0F1F5-5D59-ED27-7EF4-16D729CE13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Chapter 1</a:t>
            </a:r>
            <a:br>
              <a:rPr lang="en-US"/>
            </a:br>
            <a:r>
              <a:rPr lang="en-US"/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1648980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B110F15-961E-4336-8C63-53B4C64A8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820353"/>
              </p:ext>
            </p:extLst>
          </p:nvPr>
        </p:nvGraphicFramePr>
        <p:xfrm>
          <a:off x="2447544" y="5037742"/>
          <a:ext cx="6040674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3558">
                  <a:extLst>
                    <a:ext uri="{9D8B030D-6E8A-4147-A177-3AD203B41FA5}">
                      <a16:colId xmlns:a16="http://schemas.microsoft.com/office/drawing/2014/main" val="2309735841"/>
                    </a:ext>
                  </a:extLst>
                </a:gridCol>
                <a:gridCol w="2013558">
                  <a:extLst>
                    <a:ext uri="{9D8B030D-6E8A-4147-A177-3AD203B41FA5}">
                      <a16:colId xmlns:a16="http://schemas.microsoft.com/office/drawing/2014/main" val="1404543511"/>
                    </a:ext>
                  </a:extLst>
                </a:gridCol>
                <a:gridCol w="2013558">
                  <a:extLst>
                    <a:ext uri="{9D8B030D-6E8A-4147-A177-3AD203B41FA5}">
                      <a16:colId xmlns:a16="http://schemas.microsoft.com/office/drawing/2014/main" val="2642725677"/>
                    </a:ext>
                  </a:extLst>
                </a:gridCol>
              </a:tblGrid>
              <a:tr h="278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Tax 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Land Owned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694464"/>
                  </a:ext>
                </a:extLst>
              </a:tr>
              <a:tr h="278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Marcus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 coins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 acres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872472"/>
                  </a:ext>
                </a:extLst>
              </a:tr>
              <a:tr h="278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Julia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 coins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 acres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6018184"/>
                  </a:ext>
                </a:extLst>
              </a:tr>
              <a:tr h="278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Antonius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 coins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acres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514691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5710D80-87D9-F062-47B7-89FD34896B28}"/>
              </a:ext>
            </a:extLst>
          </p:cNvPr>
          <p:cNvSpPr txBox="1"/>
          <p:nvPr/>
        </p:nvSpPr>
        <p:spPr>
          <a:xfrm>
            <a:off x="905071" y="328761"/>
            <a:ext cx="9735312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/>
              <a:t>Why Organize Data in Tables?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need to </a:t>
            </a:r>
            <a:r>
              <a:rPr lang="en-US" b="1"/>
              <a:t>organize information</a:t>
            </a:r>
            <a:r>
              <a:rPr lang="en-US"/>
              <a:t> existed long before computers and databases. Early civilizations kept records of important information such as?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/>
              <a:t>taxes, property, trade, crops, livestock, and population</a:t>
            </a:r>
            <a:r>
              <a:rPr lang="en-US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Ancient record keepers used clay tablets, papyrus, and later paper ledgers to maintain these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Information could be written in a </a:t>
            </a:r>
            <a:r>
              <a:rPr lang="en-US" b="1"/>
              <a:t>free-form style</a:t>
            </a:r>
            <a:r>
              <a:rPr lang="en-US"/>
              <a:t>, such as?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Marcus paid 20 coins in taxes and owns 3 acres. Julia owns 5 acres of land and paid 25 coins. Antonius paid 15 coins in taxes and owns only 2 acres.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While this free-form approach may be understandable for a small amount of information, it becomes increasingly difficult to manage as hundreds or thousands of records accumulate. Finding a particular person, comparing values, calculating totals, or identifying missing information could require searching through large amounts of text. </a:t>
            </a:r>
            <a:r>
              <a:rPr lang="en-US" b="1"/>
              <a:t>What do you think people could have done to organize this information more effectively?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>
              <a:buNone/>
            </a:pPr>
            <a:r>
              <a:rPr lang="en-US"/>
              <a:t>Earlier civilizations recognized that a </a:t>
            </a:r>
            <a:r>
              <a:rPr lang="en-US" b="1"/>
              <a:t>table</a:t>
            </a:r>
            <a:r>
              <a:rPr lang="en-US"/>
              <a:t> provides a much more organized approach:</a:t>
            </a:r>
          </a:p>
        </p:txBody>
      </p:sp>
    </p:spTree>
    <p:extLst>
      <p:ext uri="{BB962C8B-B14F-4D97-AF65-F5344CB8AC3E}">
        <p14:creationId xmlns:p14="http://schemas.microsoft.com/office/powerpoint/2010/main" val="2608876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AAFCF2-AF7C-079E-331C-600A560D4C64}"/>
              </a:ext>
            </a:extLst>
          </p:cNvPr>
          <p:cNvSpPr txBox="1"/>
          <p:nvPr/>
        </p:nvSpPr>
        <p:spPr>
          <a:xfrm>
            <a:off x="898398" y="469452"/>
            <a:ext cx="989152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File-Based Systems and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Tables organize information into </a:t>
            </a:r>
            <a:r>
              <a:rPr lang="en-US" sz="2400" b="1"/>
              <a:t>rows and columns</a:t>
            </a:r>
            <a:r>
              <a:rPr lang="en-US" sz="2400"/>
              <a:t>. Each row can represent one person, item, or transaction, while each column represents the same type of information for every record.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What are some advantages of using a table?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/>
              <a:t>Tables data easier to </a:t>
            </a:r>
            <a:r>
              <a:rPr lang="en-US" sz="2400" b="1"/>
              <a:t>read, compare, sort, search, count, and summarize</a:t>
            </a:r>
            <a:r>
              <a:rPr lang="en-US" sz="2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99078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3AB8B-5B90-C631-3CCD-034DC3E0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7415"/>
          </a:xfrm>
        </p:spPr>
        <p:txBody>
          <a:bodyPr/>
          <a:lstStyle/>
          <a:p>
            <a:r>
              <a:rPr lang="en-US"/>
              <a:t>What is a table?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6FAB7-1E37-75B9-44DF-F4967427C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540"/>
            <a:ext cx="10515600" cy="4904423"/>
          </a:xfrm>
        </p:spPr>
        <p:txBody>
          <a:bodyPr/>
          <a:lstStyle/>
          <a:p>
            <a:r>
              <a:rPr lang="en-US"/>
              <a:t>A </a:t>
            </a:r>
            <a:r>
              <a:rPr lang="en-US" b="1"/>
              <a:t>table</a:t>
            </a:r>
            <a:r>
              <a:rPr lang="en-US"/>
              <a:t> is a structured collection of related data organized into rows and columns. Each table represents a single entity (such as Customer information, Students, Employees, </a:t>
            </a:r>
            <a:r>
              <a:rPr lang="en-US" err="1"/>
              <a:t>etc</a:t>
            </a:r>
            <a:r>
              <a:rPr lang="en-US"/>
              <a:t>), where each row represents one </a:t>
            </a:r>
            <a:r>
              <a:rPr lang="en-US" b="1"/>
              <a:t>record</a:t>
            </a:r>
            <a:r>
              <a:rPr lang="en-US"/>
              <a:t> and each column represents a specific </a:t>
            </a:r>
            <a:r>
              <a:rPr lang="en-US" b="1"/>
              <a:t>attribute</a:t>
            </a:r>
            <a:r>
              <a:rPr lang="en-US"/>
              <a:t> or </a:t>
            </a:r>
            <a:r>
              <a:rPr lang="en-US" b="1"/>
              <a:t>field</a:t>
            </a:r>
            <a:r>
              <a:rPr lang="en-US"/>
              <a:t> of that record. </a:t>
            </a:r>
          </a:p>
          <a:p>
            <a:r>
              <a:rPr lang="en-US"/>
              <a:t>Tables provide an organized way to store, retrieve, update, and manage data efficiently while maintaining relationships with other tables through keys.</a:t>
            </a:r>
          </a:p>
        </p:txBody>
      </p:sp>
    </p:spTree>
    <p:extLst>
      <p:ext uri="{BB962C8B-B14F-4D97-AF65-F5344CB8AC3E}">
        <p14:creationId xmlns:p14="http://schemas.microsoft.com/office/powerpoint/2010/main" val="2987229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3EBAAC-6638-A96B-5E07-3FB963022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760" y="3429000"/>
            <a:ext cx="8326915" cy="27481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832BE3D-968F-2C71-EF11-9B1216202933}"/>
              </a:ext>
            </a:extLst>
          </p:cNvPr>
          <p:cNvSpPr/>
          <p:nvPr/>
        </p:nvSpPr>
        <p:spPr>
          <a:xfrm>
            <a:off x="7948403" y="2428979"/>
            <a:ext cx="202427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Attribute or Field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E0AE7C-EE32-15F5-F533-E281D44FD74F}"/>
              </a:ext>
            </a:extLst>
          </p:cNvPr>
          <p:cNvCxnSpPr/>
          <p:nvPr/>
        </p:nvCxnSpPr>
        <p:spPr>
          <a:xfrm flipH="1">
            <a:off x="5715000" y="2867478"/>
            <a:ext cx="2066925" cy="45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A34D25-2FE5-A40E-9BB4-2EC31AC4DFD5}"/>
              </a:ext>
            </a:extLst>
          </p:cNvPr>
          <p:cNvCxnSpPr>
            <a:cxnSpLocks/>
          </p:cNvCxnSpPr>
          <p:nvPr/>
        </p:nvCxnSpPr>
        <p:spPr>
          <a:xfrm flipH="1">
            <a:off x="7781925" y="2842871"/>
            <a:ext cx="315715" cy="4768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A77918D-8B27-5A46-4CAD-C031C3047AF8}"/>
              </a:ext>
            </a:extLst>
          </p:cNvPr>
          <p:cNvCxnSpPr/>
          <p:nvPr/>
        </p:nvCxnSpPr>
        <p:spPr>
          <a:xfrm flipH="1">
            <a:off x="3571875" y="2705553"/>
            <a:ext cx="4210050" cy="614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60B8C3-A8DE-4FE9-6D14-F342B0EA4800}"/>
              </a:ext>
            </a:extLst>
          </p:cNvPr>
          <p:cNvCxnSpPr>
            <a:cxnSpLocks/>
          </p:cNvCxnSpPr>
          <p:nvPr/>
        </p:nvCxnSpPr>
        <p:spPr>
          <a:xfrm>
            <a:off x="8480030" y="2867478"/>
            <a:ext cx="450455" cy="45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CBA762-5B16-E914-C82B-62B49E742E28}"/>
              </a:ext>
            </a:extLst>
          </p:cNvPr>
          <p:cNvCxnSpPr>
            <a:cxnSpLocks/>
          </p:cNvCxnSpPr>
          <p:nvPr/>
        </p:nvCxnSpPr>
        <p:spPr>
          <a:xfrm flipH="1">
            <a:off x="2400300" y="2596313"/>
            <a:ext cx="5381625" cy="723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AB5B785-6A86-9A24-9E39-FB2EB66629F3}"/>
              </a:ext>
            </a:extLst>
          </p:cNvPr>
          <p:cNvSpPr/>
          <p:nvPr/>
        </p:nvSpPr>
        <p:spPr>
          <a:xfrm>
            <a:off x="10875955" y="4142568"/>
            <a:ext cx="97783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Record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A4E015-2B6C-A0A2-D0AB-C492D316AA23}"/>
              </a:ext>
            </a:extLst>
          </p:cNvPr>
          <p:cNvCxnSpPr>
            <a:cxnSpLocks/>
          </p:cNvCxnSpPr>
          <p:nvPr/>
        </p:nvCxnSpPr>
        <p:spPr>
          <a:xfrm flipH="1" flipV="1">
            <a:off x="10153650" y="3991428"/>
            <a:ext cx="647700" cy="302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06E4696-E827-380F-0131-D992CEAF619B}"/>
              </a:ext>
            </a:extLst>
          </p:cNvPr>
          <p:cNvSpPr/>
          <p:nvPr/>
        </p:nvSpPr>
        <p:spPr>
          <a:xfrm>
            <a:off x="4608132" y="1482268"/>
            <a:ext cx="17660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978A30-4F03-914E-E9AB-4DD3CA3B2E8D}"/>
              </a:ext>
            </a:extLst>
          </p:cNvPr>
          <p:cNvSpPr txBox="1"/>
          <p:nvPr/>
        </p:nvSpPr>
        <p:spPr>
          <a:xfrm>
            <a:off x="933449" y="465087"/>
            <a:ext cx="102393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/>
              <a:t>Imagine the savings account for customers. What data do you think are relevant to store for each customer?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BC1A2E-7D9A-B9DC-96E2-42F50A3D7F70}"/>
              </a:ext>
            </a:extLst>
          </p:cNvPr>
          <p:cNvSpPr txBox="1"/>
          <p:nvPr/>
        </p:nvSpPr>
        <p:spPr>
          <a:xfrm>
            <a:off x="813816" y="1975104"/>
            <a:ext cx="2963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Why is it a good idea to have</a:t>
            </a:r>
          </a:p>
          <a:p>
            <a:r>
              <a:rPr lang="en-US"/>
              <a:t>a Custermer ID field?</a:t>
            </a:r>
          </a:p>
        </p:txBody>
      </p:sp>
    </p:spTree>
    <p:extLst>
      <p:ext uri="{BB962C8B-B14F-4D97-AF65-F5344CB8AC3E}">
        <p14:creationId xmlns:p14="http://schemas.microsoft.com/office/powerpoint/2010/main" val="229844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  <p:bldP spid="25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FAD457-5613-01FD-3FCB-B724547B64D9}"/>
              </a:ext>
            </a:extLst>
          </p:cNvPr>
          <p:cNvSpPr txBox="1"/>
          <p:nvPr/>
        </p:nvSpPr>
        <p:spPr>
          <a:xfrm>
            <a:off x="1593342" y="751344"/>
            <a:ext cx="8922258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/>
              <a:t>Tools for Creating and Managing Table-Based Data</a:t>
            </a:r>
          </a:p>
          <a:p>
            <a:pPr>
              <a:buNone/>
            </a:pPr>
            <a:endParaRPr lang="en-US" b="1"/>
          </a:p>
          <a:p>
            <a:pPr>
              <a:buNone/>
            </a:pPr>
            <a:r>
              <a:rPr lang="en-US"/>
              <a:t>Data can be stored in several file formats that organize information into </a:t>
            </a:r>
            <a:r>
              <a:rPr lang="en-US" b="1"/>
              <a:t>rows and columns</a:t>
            </a:r>
            <a:r>
              <a:rPr lang="en-US"/>
              <a:t>. These files can be created and edited using different software tools.</a:t>
            </a:r>
          </a:p>
          <a:p>
            <a:pPr>
              <a:buNone/>
            </a:pPr>
            <a:r>
              <a:rPr lang="en-US"/>
              <a:t>Can you think of different apps we use to create a table?</a:t>
            </a:r>
          </a:p>
          <a:p>
            <a:pPr>
              <a:buNone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Microsoft Excel</a:t>
            </a:r>
            <a:r>
              <a:rPr lang="en-US"/>
              <a:t> is one of the most commonly used tools for creating tables. It primarily uses the </a:t>
            </a:r>
            <a:r>
              <a:rPr lang="en-US" b="1">
                <a:latin typeface="+mn-lt"/>
              </a:rPr>
              <a:t>.xlsx</a:t>
            </a:r>
            <a:r>
              <a:rPr lang="en-US"/>
              <a:t> format, while older versions of Excel used </a:t>
            </a:r>
            <a:r>
              <a:rPr lang="en-US" b="1">
                <a:latin typeface="+mn-lt"/>
              </a:rPr>
              <a:t>.</a:t>
            </a:r>
            <a:r>
              <a:rPr lang="en-US" b="1" err="1">
                <a:latin typeface="+mn-lt"/>
              </a:rPr>
              <a:t>xls</a:t>
            </a:r>
            <a:r>
              <a:rPr lang="en-US"/>
              <a:t>. Excel supports formulas, formatting, charts, multiple worksheets, and other features for organizing and analyzing data. A </a:t>
            </a:r>
            <a:r>
              <a:rPr lang="en-US" b="1"/>
              <a:t>.csv </a:t>
            </a:r>
            <a:r>
              <a:rPr lang="en-US"/>
              <a:t>file stores data as plain text, with values usually separated by commas.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Google Sheets</a:t>
            </a:r>
            <a:r>
              <a:rPr lang="en-US"/>
              <a:t> is a web-based spreadsheet application. Like Excel, it allows users to create and manipulate data in rows and columns. Google Sheets files can be downloaded or exported as </a:t>
            </a:r>
            <a:r>
              <a:rPr lang="en-US">
                <a:latin typeface="+mn-lt"/>
              </a:rPr>
              <a:t>.xlsx</a:t>
            </a:r>
            <a:r>
              <a:rPr lang="en-US"/>
              <a:t>, </a:t>
            </a:r>
            <a:r>
              <a:rPr lang="en-US">
                <a:latin typeface="+mn-lt"/>
              </a:rPr>
              <a:t>.csv</a:t>
            </a:r>
            <a:r>
              <a:rPr lang="en-US"/>
              <a:t>, and several other formats.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LibreOffice Calc</a:t>
            </a:r>
            <a:r>
              <a:rPr lang="en-US"/>
              <a:t> is a free and open-source spreadsheet application. Its standard spreadsheet format is </a:t>
            </a:r>
            <a:r>
              <a:rPr lang="en-US" b="1"/>
              <a:t>.</a:t>
            </a:r>
            <a:r>
              <a:rPr lang="en-US" b="1" err="1"/>
              <a:t>ods</a:t>
            </a:r>
            <a:r>
              <a:rPr lang="en-US"/>
              <a:t>, but it can also open and save files in formats such as .xlsx, .</a:t>
            </a:r>
            <a:r>
              <a:rPr lang="en-US" err="1"/>
              <a:t>xls</a:t>
            </a:r>
            <a:r>
              <a:rPr lang="en-US"/>
              <a:t>, and .csv. It provides many of the same basic spreadsheet features as Microsoft Excel.</a:t>
            </a:r>
          </a:p>
        </p:txBody>
      </p:sp>
    </p:spTree>
    <p:extLst>
      <p:ext uri="{BB962C8B-B14F-4D97-AF65-F5344CB8AC3E}">
        <p14:creationId xmlns:p14="http://schemas.microsoft.com/office/powerpoint/2010/main" val="1414794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B7E8B-4C95-0608-6C5D-69C737CA4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Possible problems with using tables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D935BF-299A-95CC-D33F-41C25671E02D}"/>
              </a:ext>
            </a:extLst>
          </p:cNvPr>
          <p:cNvSpPr txBox="1"/>
          <p:nvPr/>
        </p:nvSpPr>
        <p:spPr>
          <a:xfrm>
            <a:off x="1309878" y="1905506"/>
            <a:ext cx="902284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Although file-based tables are relatively simple to create and use, problems can arise as the amount of data grows and multiple files need to share related information.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These problems can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/>
              <a:t>data redundancy, data inconsistency, data isolation, and difficulty maintaining relationships between data</a:t>
            </a:r>
            <a:r>
              <a:rPr lang="en-US" sz="2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497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723BC9-EB32-769D-6227-79863E01D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291" y="1053752"/>
            <a:ext cx="10515600" cy="5511138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Imagine the savings, checking and loan account for customers.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b="1"/>
              <a:t>Why is this a potential source of a problem?</a:t>
            </a:r>
          </a:p>
          <a:p>
            <a:pPr marL="0" indent="0">
              <a:buNone/>
            </a:pPr>
            <a:r>
              <a:rPr lang="en-US"/>
              <a:t>Information is duplicated across multiple files.</a:t>
            </a:r>
          </a:p>
          <a:p>
            <a:pPr marL="0" indent="0">
              <a:buNone/>
            </a:pPr>
            <a:r>
              <a:rPr lang="en-US"/>
              <a:t>If John Smith moves to a new address, the bank must update </a:t>
            </a:r>
            <a:r>
              <a:rPr lang="en-US" b="1"/>
              <a:t>every file</a:t>
            </a:r>
            <a:r>
              <a:rPr lang="en-US"/>
              <a:t> containing his address. If one file is updated but another is not, the bank ends up with conflicting information.</a:t>
            </a:r>
          </a:p>
          <a:p>
            <a:pPr marL="0" indent="0">
              <a:buNone/>
            </a:pPr>
            <a:r>
              <a:rPr lang="en-US" b="1"/>
              <a:t>Data redundancy </a:t>
            </a:r>
            <a:r>
              <a:rPr lang="en-US"/>
              <a:t>is a situation that occurs in a database when a field needs to be updated in more than one table.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2A6403-6664-B3E5-6135-B5FF34B90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088" y="1489079"/>
            <a:ext cx="3040968" cy="20175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76C3F7-1F01-A8F2-56C1-B3AA7864E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853" y="1489080"/>
            <a:ext cx="2925467" cy="20175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218F93-38BB-6B95-571A-498CD51F1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320" y="1489080"/>
            <a:ext cx="2914259" cy="201756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3AA19BC-C18D-B47E-1C90-5D923032FBC3}"/>
              </a:ext>
            </a:extLst>
          </p:cNvPr>
          <p:cNvSpPr txBox="1">
            <a:spLocks/>
          </p:cNvSpPr>
          <p:nvPr/>
        </p:nvSpPr>
        <p:spPr>
          <a:xfrm>
            <a:off x="657312" y="293111"/>
            <a:ext cx="10465579" cy="6674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Data Redundancy</a:t>
            </a:r>
          </a:p>
        </p:txBody>
      </p:sp>
    </p:spTree>
    <p:extLst>
      <p:ext uri="{BB962C8B-B14F-4D97-AF65-F5344CB8AC3E}">
        <p14:creationId xmlns:p14="http://schemas.microsoft.com/office/powerpoint/2010/main" val="421059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339919-AC82-CA0D-D176-323AC5253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28" y="1090698"/>
            <a:ext cx="10515600" cy="5511138"/>
          </a:xfrm>
        </p:spPr>
        <p:txBody>
          <a:bodyPr>
            <a:normAutofit lnSpcReduction="10000"/>
          </a:bodyPr>
          <a:lstStyle/>
          <a:p>
            <a:r>
              <a:rPr lang="en-US"/>
              <a:t>Suppose a customer, </a:t>
            </a:r>
            <a:r>
              <a:rPr lang="en-US" b="1"/>
              <a:t>John Smith</a:t>
            </a:r>
            <a:r>
              <a:rPr lang="en-US"/>
              <a:t>, changes his address from </a:t>
            </a:r>
            <a:r>
              <a:rPr lang="en-US" b="1"/>
              <a:t>123 Main St.</a:t>
            </a:r>
            <a:r>
              <a:rPr lang="en-US"/>
              <a:t> to </a:t>
            </a:r>
            <a:r>
              <a:rPr lang="en-US" b="1"/>
              <a:t>456 Oak Ave. </a:t>
            </a:r>
            <a:r>
              <a:rPr lang="en-US"/>
              <a:t>Because the bank uses a file-based system, his information is stored separately in the:</a:t>
            </a:r>
          </a:p>
          <a:p>
            <a:pPr lvl="1"/>
            <a:r>
              <a:rPr lang="en-US" b="1"/>
              <a:t>Savings Account File</a:t>
            </a:r>
            <a:r>
              <a:rPr lang="en-US"/>
              <a:t> → Address updated to </a:t>
            </a:r>
            <a:r>
              <a:rPr lang="en-US" b="1"/>
              <a:t>456 Oak Ave.</a:t>
            </a:r>
            <a:r>
              <a:rPr lang="en-US"/>
              <a:t> ✅ </a:t>
            </a:r>
          </a:p>
          <a:p>
            <a:pPr lvl="1"/>
            <a:r>
              <a:rPr lang="en-US" b="1"/>
              <a:t>Checking Account File</a:t>
            </a:r>
            <a:r>
              <a:rPr lang="en-US"/>
              <a:t> → Still </a:t>
            </a:r>
            <a:r>
              <a:rPr lang="en-US" b="1"/>
              <a:t>123 Main St.</a:t>
            </a:r>
            <a:r>
              <a:rPr lang="en-US"/>
              <a:t> ❌ </a:t>
            </a:r>
          </a:p>
          <a:p>
            <a:pPr lvl="1"/>
            <a:r>
              <a:rPr lang="en-US" b="1"/>
              <a:t>Loan File</a:t>
            </a:r>
            <a:r>
              <a:rPr lang="en-US"/>
              <a:t> → Address updated to </a:t>
            </a:r>
            <a:r>
              <a:rPr lang="en-US" b="1"/>
              <a:t>456 Oak Ave.</a:t>
            </a:r>
            <a:r>
              <a:rPr lang="en-US"/>
              <a:t> ✅ </a:t>
            </a:r>
          </a:p>
          <a:p>
            <a:r>
              <a:rPr lang="en-US"/>
              <a:t>Now the bank has </a:t>
            </a:r>
            <a:r>
              <a:rPr lang="en-US" b="1"/>
              <a:t>conflicting information</a:t>
            </a:r>
            <a:r>
              <a:rPr lang="en-US"/>
              <a:t> about the same customer. One department may send statements to the old address while another sends them to the new address.</a:t>
            </a:r>
          </a:p>
          <a:p>
            <a:pPr marL="0" indent="0">
              <a:buNone/>
            </a:pPr>
            <a:r>
              <a:rPr lang="en-US"/>
              <a:t>This is an integrity problem because the data is no longer accurate and consistent across the system.</a:t>
            </a:r>
          </a:p>
          <a:p>
            <a:pPr marL="0" indent="0">
              <a:buNone/>
            </a:pPr>
            <a:r>
              <a:rPr lang="en-US"/>
              <a:t>A </a:t>
            </a:r>
            <a:r>
              <a:rPr lang="en-US" b="1"/>
              <a:t>Data Inconsistency </a:t>
            </a:r>
            <a:r>
              <a:rPr lang="en-US"/>
              <a:t>occurs when the accuracy or consistency of data is compromised, resulting in conflicting or incorrect information.</a:t>
            </a:r>
          </a:p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F78881-5205-41FB-5E2C-1B0A92B34936}"/>
              </a:ext>
            </a:extLst>
          </p:cNvPr>
          <p:cNvSpPr txBox="1">
            <a:spLocks/>
          </p:cNvSpPr>
          <p:nvPr/>
        </p:nvSpPr>
        <p:spPr>
          <a:xfrm>
            <a:off x="657312" y="293111"/>
            <a:ext cx="10465579" cy="6674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Data Inconsistency</a:t>
            </a:r>
          </a:p>
        </p:txBody>
      </p:sp>
    </p:spTree>
    <p:extLst>
      <p:ext uri="{BB962C8B-B14F-4D97-AF65-F5344CB8AC3E}">
        <p14:creationId xmlns:p14="http://schemas.microsoft.com/office/powerpoint/2010/main" val="197861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BF0D86-5BDD-4D87-6D54-99F14E7D9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792665"/>
              </p:ext>
            </p:extLst>
          </p:nvPr>
        </p:nvGraphicFramePr>
        <p:xfrm>
          <a:off x="1739264" y="4176313"/>
          <a:ext cx="7781925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2032">
                  <a:extLst>
                    <a:ext uri="{9D8B030D-6E8A-4147-A177-3AD203B41FA5}">
                      <a16:colId xmlns:a16="http://schemas.microsoft.com/office/drawing/2014/main" val="1549372435"/>
                    </a:ext>
                  </a:extLst>
                </a:gridCol>
                <a:gridCol w="2304669">
                  <a:extLst>
                    <a:ext uri="{9D8B030D-6E8A-4147-A177-3AD203B41FA5}">
                      <a16:colId xmlns:a16="http://schemas.microsoft.com/office/drawing/2014/main" val="50736279"/>
                    </a:ext>
                  </a:extLst>
                </a:gridCol>
                <a:gridCol w="3705224">
                  <a:extLst>
                    <a:ext uri="{9D8B030D-6E8A-4147-A177-3AD203B41FA5}">
                      <a16:colId xmlns:a16="http://schemas.microsoft.com/office/drawing/2014/main" val="38948568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EmployeeID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Department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193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Emily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Information 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3886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Michael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Information 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02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Sophia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Information 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929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9436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6B33369-198F-EA50-8075-35DFC3905429}"/>
              </a:ext>
            </a:extLst>
          </p:cNvPr>
          <p:cNvSpPr txBox="1"/>
          <p:nvPr/>
        </p:nvSpPr>
        <p:spPr>
          <a:xfrm>
            <a:off x="733424" y="423119"/>
            <a:ext cx="103536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Data Redundancy is not automatically bad</a:t>
            </a:r>
            <a:r>
              <a:rPr lang="en-US"/>
              <a:t>.</a:t>
            </a:r>
          </a:p>
          <a:p>
            <a:pPr>
              <a:buNone/>
            </a:pPr>
            <a:r>
              <a:rPr lang="en-US"/>
              <a:t>But </a:t>
            </a:r>
            <a:r>
              <a:rPr lang="en-US" b="1"/>
              <a:t>unnecessary or uncontrolled data redundancy is a problem</a:t>
            </a:r>
            <a:r>
              <a:rPr lang="en-US"/>
              <a:t>.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For example, suppose the department name </a:t>
            </a:r>
            <a:r>
              <a:rPr lang="en-US">
                <a:latin typeface="+mn-lt"/>
              </a:rPr>
              <a:t>Information Technology</a:t>
            </a:r>
            <a:r>
              <a:rPr lang="en-US"/>
              <a:t> is repeated for 500 employees in a single Employee table:</a:t>
            </a:r>
          </a:p>
          <a:p>
            <a:pPr>
              <a:buNone/>
            </a:pPr>
            <a:r>
              <a:rPr lang="en-US"/>
              <a:t>That redundancy creates several potential problems: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/>
              <a:t>Wasted storage</a:t>
            </a:r>
            <a:r>
              <a:rPr lang="en-US"/>
              <a:t> — the same information is stored repeatedly. This is less important today for small data, but can matter at scale.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/>
              <a:t>Update problems</a:t>
            </a:r>
            <a:r>
              <a:rPr lang="en-US"/>
              <a:t> — if the department changes its name to </a:t>
            </a:r>
            <a:r>
              <a:rPr lang="en-US">
                <a:latin typeface="+mn-lt"/>
              </a:rPr>
              <a:t>Technology Services</a:t>
            </a:r>
            <a:r>
              <a:rPr lang="en-US"/>
              <a:t>, you may need to update hundreds of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/>
              <a:t>Inconsistency risk</a:t>
            </a:r>
            <a:r>
              <a:rPr lang="en-US"/>
              <a:t> — some records might be updated while others are not.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/>
              <a:t>Maintenance overhead</a:t>
            </a:r>
            <a:r>
              <a:rPr lang="en-US"/>
              <a:t> — the same fact has to be maintained in multiple places.</a:t>
            </a:r>
          </a:p>
        </p:txBody>
      </p:sp>
    </p:spTree>
    <p:extLst>
      <p:ext uri="{BB962C8B-B14F-4D97-AF65-F5344CB8AC3E}">
        <p14:creationId xmlns:p14="http://schemas.microsoft.com/office/powerpoint/2010/main" val="350827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739C81-CB49-6187-1044-B0B46F22B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032539"/>
              </p:ext>
            </p:extLst>
          </p:nvPr>
        </p:nvGraphicFramePr>
        <p:xfrm>
          <a:off x="873252" y="2890605"/>
          <a:ext cx="5222748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7484">
                  <a:extLst>
                    <a:ext uri="{9D8B030D-6E8A-4147-A177-3AD203B41FA5}">
                      <a16:colId xmlns:a16="http://schemas.microsoft.com/office/drawing/2014/main" val="3755294689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1784439459"/>
                    </a:ext>
                  </a:extLst>
                </a:gridCol>
                <a:gridCol w="1728216">
                  <a:extLst>
                    <a:ext uri="{9D8B030D-6E8A-4147-A177-3AD203B41FA5}">
                      <a16:colId xmlns:a16="http://schemas.microsoft.com/office/drawing/2014/main" val="3770979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EmployeeID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DepartmentID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173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Emily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431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Michael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539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Sophia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25872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8EE3AD-312F-C6E0-5C71-B7978C9B3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302281"/>
              </p:ext>
            </p:extLst>
          </p:nvPr>
        </p:nvGraphicFramePr>
        <p:xfrm>
          <a:off x="6982968" y="2890605"/>
          <a:ext cx="4335780" cy="13296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7444">
                  <a:extLst>
                    <a:ext uri="{9D8B030D-6E8A-4147-A177-3AD203B41FA5}">
                      <a16:colId xmlns:a16="http://schemas.microsoft.com/office/drawing/2014/main" val="229660729"/>
                    </a:ext>
                  </a:extLst>
                </a:gridCol>
                <a:gridCol w="2688336">
                  <a:extLst>
                    <a:ext uri="{9D8B030D-6E8A-4147-A177-3AD203B41FA5}">
                      <a16:colId xmlns:a16="http://schemas.microsoft.com/office/drawing/2014/main" val="1664067117"/>
                    </a:ext>
                  </a:extLst>
                </a:gridCol>
              </a:tblGrid>
              <a:tr h="66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DepartmentID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DepartmentName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67883"/>
                  </a:ext>
                </a:extLst>
              </a:tr>
              <a:tr h="66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Information 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15383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9C2A1F1-0220-8B4E-ED74-9779CC44DDB3}"/>
              </a:ext>
            </a:extLst>
          </p:cNvPr>
          <p:cNvSpPr txBox="1"/>
          <p:nvPr/>
        </p:nvSpPr>
        <p:spPr>
          <a:xfrm>
            <a:off x="1604010" y="750030"/>
            <a:ext cx="81526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database design would typically separate this into: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/>
              <a:t>EMPLOYEE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/>
              <a:t>DEPARTMENT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Now the fact that Department 2 is called </a:t>
            </a:r>
            <a:r>
              <a:rPr lang="en-US">
                <a:latin typeface="+mn-lt"/>
              </a:rPr>
              <a:t>Information Technology</a:t>
            </a:r>
            <a:r>
              <a:rPr lang="en-US"/>
              <a:t> is stored </a:t>
            </a:r>
            <a:r>
              <a:rPr lang="en-US" b="1"/>
              <a:t>once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0287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F16A68-D4C9-BC7B-45E2-4527A7173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092" y="2916785"/>
            <a:ext cx="4232563" cy="1024430"/>
          </a:xfrm>
        </p:spPr>
        <p:txBody>
          <a:bodyPr>
            <a:normAutofit/>
          </a:bodyPr>
          <a:lstStyle/>
          <a:p>
            <a:r>
              <a:rPr lang="en-US"/>
              <a:t>Suppose a school uses separate files:</a:t>
            </a:r>
          </a:p>
          <a:p>
            <a:pPr marL="0" indent="0">
              <a:buNone/>
            </a:pPr>
            <a:endParaRPr lang="en-US" b="1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CAC511-3476-CC94-42F4-82B4E4AB3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77" y="1803447"/>
            <a:ext cx="5051506" cy="363217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F757BAC-4500-1850-9321-4CB37BE6A4FC}"/>
              </a:ext>
            </a:extLst>
          </p:cNvPr>
          <p:cNvSpPr txBox="1">
            <a:spLocks/>
          </p:cNvSpPr>
          <p:nvPr/>
        </p:nvSpPr>
        <p:spPr>
          <a:xfrm>
            <a:off x="657312" y="293111"/>
            <a:ext cx="10465579" cy="6674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Data Isolation</a:t>
            </a:r>
          </a:p>
        </p:txBody>
      </p:sp>
    </p:spTree>
    <p:extLst>
      <p:ext uri="{BB962C8B-B14F-4D97-AF65-F5344CB8AC3E}">
        <p14:creationId xmlns:p14="http://schemas.microsoft.com/office/powerpoint/2010/main" val="696822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3F5D-0788-28EE-7333-76295E6F2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F764F8-A9A6-6256-C4F8-2555991F7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Why is this a problem?</a:t>
            </a:r>
          </a:p>
          <a:p>
            <a:pPr marL="0" indent="0">
              <a:buNone/>
            </a:pPr>
            <a:r>
              <a:rPr lang="en-US" sz="2000"/>
              <a:t>If a new application needs to display </a:t>
            </a:r>
            <a:r>
              <a:rPr lang="en-US" sz="2000" b="1"/>
              <a:t>each student's name together with their payments</a:t>
            </a:r>
            <a:r>
              <a:rPr lang="en-US" sz="2000"/>
              <a:t>, it must know:</a:t>
            </a:r>
          </a:p>
          <a:p>
            <a:pPr lvl="1"/>
            <a:r>
              <a:rPr lang="en-US" sz="1600"/>
              <a:t>which files contain the required information, </a:t>
            </a:r>
          </a:p>
          <a:p>
            <a:pPr lvl="1"/>
            <a:r>
              <a:rPr lang="en-US" sz="1600"/>
              <a:t>how each file is structured, </a:t>
            </a:r>
          </a:p>
          <a:p>
            <a:pPr lvl="1"/>
            <a:r>
              <a:rPr lang="en-US" sz="1600"/>
              <a:t>that </a:t>
            </a:r>
            <a:r>
              <a:rPr lang="en-US" sz="1600" b="1" err="1"/>
              <a:t>StudentID</a:t>
            </a:r>
            <a:r>
              <a:rPr lang="en-US" sz="1600"/>
              <a:t> in one file corresponds to </a:t>
            </a:r>
            <a:r>
              <a:rPr lang="en-US" sz="1600" b="1" err="1"/>
              <a:t>StudentNo</a:t>
            </a:r>
            <a:r>
              <a:rPr lang="en-US" sz="1600"/>
              <a:t> in another, and </a:t>
            </a:r>
          </a:p>
          <a:p>
            <a:pPr lvl="1"/>
            <a:r>
              <a:rPr lang="en-US" sz="1600"/>
              <a:t>how to combine the records correctly. </a:t>
            </a:r>
          </a:p>
          <a:p>
            <a:pPr marL="0" indent="0">
              <a:buNone/>
            </a:pPr>
            <a:r>
              <a:rPr lang="en-US" sz="2000"/>
              <a:t>In a traditional file-based system, these relationships are often handled by </a:t>
            </a:r>
            <a:r>
              <a:rPr lang="en-US" sz="2000" b="1"/>
              <a:t>application programs rather than centrally by a DBMS</a:t>
            </a:r>
            <a:r>
              <a:rPr lang="en-US" sz="2000"/>
              <a:t>. As the number of files and applications increases, retrieving and combining related data becomes increasingly difficult.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Data isolation </a:t>
            </a:r>
            <a:r>
              <a:rPr lang="en-US"/>
              <a:t>occurs when the data exists, but because it is scattered and isolated in different files, a new program may have difficulty finding and combining the data it needs.</a:t>
            </a:r>
          </a:p>
        </p:txBody>
      </p:sp>
    </p:spTree>
    <p:extLst>
      <p:ext uri="{BB962C8B-B14F-4D97-AF65-F5344CB8AC3E}">
        <p14:creationId xmlns:p14="http://schemas.microsoft.com/office/powerpoint/2010/main" val="890243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BDE09B-3D88-B38C-93BD-C451508BC571}"/>
              </a:ext>
            </a:extLst>
          </p:cNvPr>
          <p:cNvSpPr txBox="1"/>
          <p:nvPr/>
        </p:nvSpPr>
        <p:spPr>
          <a:xfrm>
            <a:off x="1125726" y="846030"/>
            <a:ext cx="814758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/>
              <a:t>Another problem with Data Isolation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Suppose two separate files/tables store the same date differently: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Customers.csv</a:t>
            </a:r>
            <a:r>
              <a:rPr lang="en-US"/>
              <a:t> → </a:t>
            </a:r>
            <a:r>
              <a:rPr lang="en-US">
                <a:latin typeface="+mn-lt"/>
              </a:rPr>
              <a:t>08/29/2026</a:t>
            </a:r>
            <a:r>
              <a:rPr lang="en-US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Orders.csv</a:t>
            </a:r>
            <a:r>
              <a:rPr lang="en-US"/>
              <a:t> → </a:t>
            </a:r>
            <a:r>
              <a:rPr lang="en-US">
                <a:latin typeface="+mn-lt"/>
              </a:rPr>
              <a:t>2026-08-29</a:t>
            </a:r>
            <a:r>
              <a:rPr lang="en-US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Another system → </a:t>
            </a:r>
            <a:r>
              <a:rPr lang="en-US">
                <a:latin typeface="+mn-lt"/>
              </a:rPr>
              <a:t>29-Aug-2026</a:t>
            </a:r>
            <a:r>
              <a:rPr lang="en-US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/>
          </a:p>
          <a:p>
            <a:pPr>
              <a:buNone/>
            </a:pPr>
            <a:r>
              <a:rPr lang="en-US"/>
              <a:t>The </a:t>
            </a:r>
            <a:r>
              <a:rPr lang="en-US" b="1"/>
              <a:t>data isolation</a:t>
            </a:r>
            <a:r>
              <a:rPr lang="en-US"/>
              <a:t> problem is that related data is stored in </a:t>
            </a:r>
            <a:r>
              <a:rPr lang="en-US" b="1"/>
              <a:t>different files, formats, or systems</a:t>
            </a:r>
            <a:r>
              <a:rPr lang="en-US"/>
              <a:t>, making it harder for an application to retrieve, combine, and process the data.</a:t>
            </a:r>
          </a:p>
        </p:txBody>
      </p:sp>
    </p:spTree>
    <p:extLst>
      <p:ext uri="{BB962C8B-B14F-4D97-AF65-F5344CB8AC3E}">
        <p14:creationId xmlns:p14="http://schemas.microsoft.com/office/powerpoint/2010/main" val="2658569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46AFD7-51DC-779F-D548-3AFDDD658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055" y="1026043"/>
            <a:ext cx="10515600" cy="5511138"/>
          </a:xfrm>
        </p:spPr>
        <p:txBody>
          <a:bodyPr>
            <a:normAutofit lnSpcReduction="10000"/>
          </a:bodyPr>
          <a:lstStyle/>
          <a:p>
            <a:r>
              <a:rPr lang="en-US"/>
              <a:t>Suppose a bank teller's job is to process deposits and withdrawals for </a:t>
            </a:r>
            <a:r>
              <a:rPr lang="en-US" b="1"/>
              <a:t>checking and savings accounts</a:t>
            </a:r>
            <a:r>
              <a:rPr lang="en-US"/>
              <a:t> only. However, because the file-based system has poor access controls, the teller can also open the </a:t>
            </a:r>
            <a:r>
              <a:rPr lang="en-US" b="1"/>
              <a:t>Loan File</a:t>
            </a:r>
            <a:r>
              <a:rPr lang="en-US"/>
              <a:t>.</a:t>
            </a:r>
          </a:p>
          <a:p>
            <a:r>
              <a:rPr lang="en-US"/>
              <a:t>As a result, the teller can view confidential information such as:</a:t>
            </a:r>
          </a:p>
          <a:p>
            <a:pPr lvl="1"/>
            <a:r>
              <a:rPr lang="en-US"/>
              <a:t>Customers' loan balances </a:t>
            </a:r>
          </a:p>
          <a:p>
            <a:pPr lvl="1"/>
            <a:r>
              <a:rPr lang="en-US"/>
              <a:t>Credit history </a:t>
            </a:r>
          </a:p>
          <a:p>
            <a:pPr lvl="1"/>
            <a:r>
              <a:rPr lang="en-US"/>
              <a:t>Monthly loan payments </a:t>
            </a:r>
          </a:p>
          <a:p>
            <a:r>
              <a:rPr lang="en-US"/>
              <a:t>Why is this a problem?</a:t>
            </a:r>
          </a:p>
          <a:p>
            <a:r>
              <a:rPr lang="en-US"/>
              <a:t>Even though this information is unrelated to the teller's job, they still have access to it.</a:t>
            </a:r>
          </a:p>
          <a:p>
            <a:r>
              <a:rPr lang="en-US"/>
              <a:t>A </a:t>
            </a:r>
            <a:r>
              <a:rPr lang="en-US" b="1"/>
              <a:t>security problem </a:t>
            </a:r>
            <a:r>
              <a:rPr lang="en-US"/>
              <a:t>occurs when unauthorized users are able to access, view, modify, or delete data they should not have permission to access.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47A58C-0499-D48E-BC4B-A4E91C62A85B}"/>
              </a:ext>
            </a:extLst>
          </p:cNvPr>
          <p:cNvSpPr txBox="1">
            <a:spLocks/>
          </p:cNvSpPr>
          <p:nvPr/>
        </p:nvSpPr>
        <p:spPr>
          <a:xfrm>
            <a:off x="657312" y="293111"/>
            <a:ext cx="10465579" cy="6674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Data Security</a:t>
            </a:r>
          </a:p>
        </p:txBody>
      </p:sp>
    </p:spTree>
    <p:extLst>
      <p:ext uri="{BB962C8B-B14F-4D97-AF65-F5344CB8AC3E}">
        <p14:creationId xmlns:p14="http://schemas.microsoft.com/office/powerpoint/2010/main" val="93046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972B7B-CB03-CF48-5BB2-684D0A295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054" y="998334"/>
            <a:ext cx="10515600" cy="5511138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Suppose </a:t>
            </a:r>
            <a:r>
              <a:rPr lang="en-US" b="1"/>
              <a:t>John Smith</a:t>
            </a:r>
            <a:r>
              <a:rPr lang="en-US"/>
              <a:t> has </a:t>
            </a:r>
            <a:r>
              <a:rPr lang="en-US" b="1"/>
              <a:t>$5,000</a:t>
            </a:r>
            <a:r>
              <a:rPr lang="en-US"/>
              <a:t> in his </a:t>
            </a:r>
            <a:r>
              <a:rPr lang="en-US" b="1"/>
              <a:t>checking account</a:t>
            </a:r>
            <a:r>
              <a:rPr lang="en-US"/>
              <a:t>.</a:t>
            </a:r>
          </a:p>
          <a:p>
            <a:r>
              <a:rPr lang="en-US"/>
              <a:t>At the same time:</a:t>
            </a:r>
          </a:p>
          <a:p>
            <a:pPr lvl="1"/>
            <a:r>
              <a:rPr lang="en-US"/>
              <a:t>A </a:t>
            </a:r>
            <a:r>
              <a:rPr lang="en-US" b="1"/>
              <a:t>bank teller</a:t>
            </a:r>
            <a:r>
              <a:rPr lang="en-US"/>
              <a:t> is processing a </a:t>
            </a:r>
            <a:r>
              <a:rPr lang="en-US" b="1"/>
              <a:t>$1,000 cash withdrawal</a:t>
            </a:r>
            <a:r>
              <a:rPr lang="en-US"/>
              <a:t>. </a:t>
            </a:r>
          </a:p>
          <a:p>
            <a:pPr lvl="1"/>
            <a:r>
              <a:rPr lang="en-US"/>
              <a:t>An </a:t>
            </a:r>
            <a:r>
              <a:rPr lang="en-US" b="1"/>
              <a:t>ATM</a:t>
            </a:r>
            <a:r>
              <a:rPr lang="en-US"/>
              <a:t> is processing a </a:t>
            </a:r>
            <a:r>
              <a:rPr lang="en-US" b="1"/>
              <a:t>$500 withdrawal</a:t>
            </a:r>
            <a:r>
              <a:rPr lang="en-US"/>
              <a:t> from the same checking account. </a:t>
            </a:r>
          </a:p>
          <a:p>
            <a:pPr lvl="1"/>
            <a:r>
              <a:rPr lang="en-US"/>
              <a:t>Both transactions read the balance before either one updates it.</a:t>
            </a:r>
          </a:p>
          <a:p>
            <a:pPr lvl="1"/>
            <a:r>
              <a:rPr lang="en-US"/>
              <a:t>The teller reads the balance: </a:t>
            </a:r>
            <a:r>
              <a:rPr lang="en-US" b="1"/>
              <a:t>$5,000</a:t>
            </a:r>
            <a:r>
              <a:rPr lang="en-US"/>
              <a:t>. </a:t>
            </a:r>
          </a:p>
          <a:p>
            <a:pPr lvl="1"/>
            <a:r>
              <a:rPr lang="en-US"/>
              <a:t>The ATM also reads the balance: </a:t>
            </a:r>
            <a:r>
              <a:rPr lang="en-US" b="1"/>
              <a:t>$5,000</a:t>
            </a:r>
            <a:r>
              <a:rPr lang="en-US"/>
              <a:t>. </a:t>
            </a:r>
          </a:p>
          <a:p>
            <a:pPr lvl="1"/>
            <a:r>
              <a:rPr lang="en-US"/>
              <a:t>The teller subtracts $1,000 and saves the new balance: </a:t>
            </a:r>
            <a:r>
              <a:rPr lang="en-US" b="1"/>
              <a:t>$4,000</a:t>
            </a:r>
            <a:r>
              <a:rPr lang="en-US"/>
              <a:t>. </a:t>
            </a:r>
          </a:p>
          <a:p>
            <a:pPr lvl="1"/>
            <a:r>
              <a:rPr lang="en-US"/>
              <a:t>The ATM subtracts $500 from the balance it originally read ($5,000) and saves </a:t>
            </a:r>
            <a:r>
              <a:rPr lang="en-US" b="1"/>
              <a:t>$4,500</a:t>
            </a:r>
            <a:r>
              <a:rPr lang="en-US"/>
              <a:t>. </a:t>
            </a:r>
          </a:p>
          <a:p>
            <a:pPr lvl="1"/>
            <a:r>
              <a:rPr lang="en-US"/>
              <a:t>The final balance becomes </a:t>
            </a:r>
            <a:r>
              <a:rPr lang="en-US" b="1"/>
              <a:t>$4,500</a:t>
            </a:r>
            <a:r>
              <a:rPr lang="en-US"/>
              <a:t>, when it should be </a:t>
            </a:r>
            <a:r>
              <a:rPr lang="en-US" b="1"/>
              <a:t>$3,500</a:t>
            </a:r>
            <a:r>
              <a:rPr lang="en-US"/>
              <a:t>.</a:t>
            </a:r>
          </a:p>
          <a:p>
            <a:r>
              <a:rPr lang="en-US"/>
              <a:t>This happened because </a:t>
            </a:r>
            <a:r>
              <a:rPr lang="en-US" b="1"/>
              <a:t>both transactions accessed and updated the same account simultaneously</a:t>
            </a:r>
            <a:r>
              <a:rPr lang="en-US"/>
              <a:t>, causing one update to overwrite the other.</a:t>
            </a:r>
          </a:p>
          <a:p>
            <a:r>
              <a:rPr lang="en-US"/>
              <a:t>A </a:t>
            </a:r>
            <a:r>
              <a:rPr lang="en-US" b="1"/>
              <a:t>concurrency problem </a:t>
            </a:r>
            <a:r>
              <a:rPr lang="en-US"/>
              <a:t>occurs when two or more users or transactions access and modify the same data at the same time, resulting in incorrect or inconsistent data.</a:t>
            </a:r>
          </a:p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39504F9-5B85-FAF1-5EED-3E2BD13DA96A}"/>
              </a:ext>
            </a:extLst>
          </p:cNvPr>
          <p:cNvSpPr txBox="1">
            <a:spLocks/>
          </p:cNvSpPr>
          <p:nvPr/>
        </p:nvSpPr>
        <p:spPr>
          <a:xfrm>
            <a:off x="657312" y="293111"/>
            <a:ext cx="10465579" cy="6674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Data Concurrency</a:t>
            </a:r>
          </a:p>
        </p:txBody>
      </p:sp>
    </p:spTree>
    <p:extLst>
      <p:ext uri="{BB962C8B-B14F-4D97-AF65-F5344CB8AC3E}">
        <p14:creationId xmlns:p14="http://schemas.microsoft.com/office/powerpoint/2010/main" val="279048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833E6-BFA9-D769-D9AF-82E6BD297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5800"/>
            <a:ext cx="10515600" cy="54911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So, to summarize, the issues with maintaining a file-based system are:</a:t>
            </a:r>
          </a:p>
          <a:p>
            <a:endParaRPr lang="en-US"/>
          </a:p>
          <a:p>
            <a:pPr marL="514350" indent="-514350">
              <a:buAutoNum type="arabicPeriod"/>
            </a:pPr>
            <a:r>
              <a:rPr lang="en-US" b="1"/>
              <a:t>Data Redundancy- </a:t>
            </a:r>
            <a:r>
              <a:rPr lang="en-US"/>
              <a:t>is a situation that occurs in a database when a field needs to be updated in more than one table.</a:t>
            </a:r>
          </a:p>
          <a:p>
            <a:pPr marL="514350" indent="-514350">
              <a:buFontTx/>
              <a:buAutoNum type="arabicPeriod"/>
            </a:pPr>
            <a:r>
              <a:rPr lang="en-US" b="1"/>
              <a:t>Data Inconsistency</a:t>
            </a:r>
            <a:r>
              <a:rPr lang="en-US"/>
              <a:t>- occurs when the accuracy or consistency of data is compromised, resulting in conflicting or incorrect information.</a:t>
            </a:r>
          </a:p>
          <a:p>
            <a:pPr marL="514350" indent="-514350">
              <a:buFontTx/>
              <a:buAutoNum type="arabicPeriod"/>
            </a:pPr>
            <a:r>
              <a:rPr lang="en-US" b="1"/>
              <a:t>Data Isolation </a:t>
            </a:r>
            <a:r>
              <a:rPr lang="en-US"/>
              <a:t>- occurs when related data is stored in separate files or systems, making it difficult to access, combine, and analyze the information.</a:t>
            </a:r>
          </a:p>
          <a:p>
            <a:pPr marL="514350" indent="-514350">
              <a:buAutoNum type="arabicPeriod"/>
            </a:pPr>
            <a:r>
              <a:rPr lang="en-US" b="1"/>
              <a:t>Security problem </a:t>
            </a:r>
            <a:r>
              <a:rPr lang="en-US"/>
              <a:t>- occurs when unauthorized users are able to access, view, modify, or delete data they should not have permission to access.</a:t>
            </a:r>
          </a:p>
          <a:p>
            <a:pPr marL="514350" indent="-514350">
              <a:buFontTx/>
              <a:buAutoNum type="arabicPeriod"/>
            </a:pPr>
            <a:r>
              <a:rPr lang="en-US" b="1"/>
              <a:t>Concurrency problem </a:t>
            </a:r>
            <a:r>
              <a:rPr lang="en-US"/>
              <a:t>- occurs when two or more users or transactions access and modify the same data at the same time, resulting in incorrect or inconsistent data.</a:t>
            </a:r>
          </a:p>
        </p:txBody>
      </p:sp>
    </p:spTree>
    <p:extLst>
      <p:ext uri="{BB962C8B-B14F-4D97-AF65-F5344CB8AC3E}">
        <p14:creationId xmlns:p14="http://schemas.microsoft.com/office/powerpoint/2010/main" val="539382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E03EB6-88EA-369C-8FDF-16E723065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07" y="1063208"/>
            <a:ext cx="4910976" cy="224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85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3463</TotalTime>
  <Words>1695</Words>
  <Application>Microsoft Office PowerPoint</Application>
  <PresentationFormat>Widescreen</PresentationFormat>
  <Paragraphs>161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Chapter 1 Tables</vt:lpstr>
      <vt:lpstr>PowerPoint Presentation</vt:lpstr>
      <vt:lpstr>PowerPoint Presentation</vt:lpstr>
      <vt:lpstr>What is a table?</vt:lpstr>
      <vt:lpstr>PowerPoint Presentation</vt:lpstr>
      <vt:lpstr>PowerPoint Presentation</vt:lpstr>
      <vt:lpstr>Possible problems with using 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Reyes</dc:creator>
  <cp:lastModifiedBy>Joannes Reyes</cp:lastModifiedBy>
  <cp:revision>18</cp:revision>
  <dcterms:created xsi:type="dcterms:W3CDTF">2026-07-11T03:18:26Z</dcterms:created>
  <dcterms:modified xsi:type="dcterms:W3CDTF">2026-09-01T02:26:27Z</dcterms:modified>
</cp:coreProperties>
</file>